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800" b="1">
                <a:solidFill>
                  <a:srgbClr val="282828"/>
                </a:solidFill>
                <a:latin typeface="맑은 고딕"/>
              </a:rPr>
              <a:t>소방출동 데이터 기반 AI빅데이터 분석시스템 구축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28600"/>
            <a:ext cx="164592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r"/>
            <a:r>
              <a:rPr sz="800" b="1">
                <a:solidFill>
                  <a:srgbClr val="282828"/>
                </a:solidFill>
                <a:latin typeface="맑은 고딕"/>
              </a:rPr>
              <a:t>보완자료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132320" cy="41148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2000" b="1">
                <a:solidFill>
                  <a:srgbClr val="282828"/>
                </a:solidFill>
                <a:latin typeface="맑은 고딕"/>
              </a:rPr>
              <a:t>8페이지 보완｜Upstage 기술 적용 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51560"/>
            <a:ext cx="7315200" cy="27432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맑은 고딕"/>
              </a:rPr>
              <a:t>문서 처리 흐름 안에서 솔루션 적용 위치를 분리해 표시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10744200" cy="36576"/>
          </a:xfrm>
          <a:prstGeom prst="rect">
            <a:avLst/>
          </a:prstGeom>
          <a:solidFill>
            <a:srgbClr val="28282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50992" y="6446520"/>
            <a:ext cx="914400" cy="18288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ctr"/>
            <a:r>
              <a:rPr sz="800" b="0">
                <a:solidFill>
                  <a:srgbClr val="5A5A5A"/>
                </a:solidFill>
                <a:latin typeface="맑은 고딕"/>
              </a:rPr>
              <a:t>- 1 -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1143000" cy="777240"/>
          </a:xfrm>
          <a:prstGeom prst="roundRect">
            <a:avLst/>
          </a:prstGeom>
          <a:solidFill>
            <a:srgbClr val="E2EEF8"/>
          </a:solidFill>
          <a:ln>
            <a:solidFill>
              <a:srgbClr val="437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63500"/>
          <a:lstStyle/>
          <a:p>
            <a:pPr algn="ctr"/>
            <a:r>
              <a:rPr sz="950" b="1">
                <a:solidFill>
                  <a:srgbClr val="1F4E79"/>
                </a:solidFill>
                <a:latin typeface="맑은 고딕"/>
              </a:rPr>
              <a:t>원본 저장</a:t>
            </a:r>
          </a:p>
          <a:p>
            <a:pPr algn="ctr"/>
            <a:r>
              <a:rPr sz="750" b="0">
                <a:solidFill>
                  <a:srgbClr val="282828"/>
                </a:solidFill>
                <a:latin typeface="맑은 고딕"/>
              </a:rPr>
              <a:t>Object Storage</a:t>
            </a:r>
            <a:br/>
            <a:r>
              <a:rPr sz="750" b="0">
                <a:solidFill>
                  <a:srgbClr val="282828"/>
                </a:solidFill>
                <a:latin typeface="맑은 고딕"/>
              </a:rPr>
              <a:t>문서 ID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28800" y="2350008"/>
            <a:ext cx="210312" cy="0"/>
          </a:xfrm>
          <a:prstGeom prst="line">
            <a:avLst/>
          </a:prstGeom>
          <a:ln w="17780">
            <a:solidFill>
              <a:srgbClr val="437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075688" y="1965960"/>
            <a:ext cx="1143000" cy="777240"/>
          </a:xfrm>
          <a:prstGeom prst="roundRect">
            <a:avLst/>
          </a:prstGeom>
          <a:solidFill>
            <a:srgbClr val="E2EEF8"/>
          </a:solidFill>
          <a:ln>
            <a:solidFill>
              <a:srgbClr val="437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63500"/>
          <a:lstStyle/>
          <a:p>
            <a:pPr algn="ctr"/>
            <a:r>
              <a:rPr sz="950" b="1">
                <a:solidFill>
                  <a:srgbClr val="1F4E79"/>
                </a:solidFill>
                <a:latin typeface="맑은 고딕"/>
              </a:rPr>
              <a:t>Parse/OCR</a:t>
            </a:r>
          </a:p>
          <a:p>
            <a:pPr algn="ctr"/>
            <a:r>
              <a:rPr sz="750" b="0">
                <a:solidFill>
                  <a:srgbClr val="282828"/>
                </a:solidFill>
                <a:latin typeface="맑은 고딕"/>
              </a:rPr>
              <a:t>본문·표·이미지</a:t>
            </a:r>
            <a:br/>
            <a:r>
              <a:rPr sz="750" b="0">
                <a:solidFill>
                  <a:srgbClr val="282828"/>
                </a:solidFill>
                <a:latin typeface="맑은 고딕"/>
              </a:rPr>
              <a:t>텍스트 추출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18688" y="2350008"/>
            <a:ext cx="210312" cy="0"/>
          </a:xfrm>
          <a:prstGeom prst="line">
            <a:avLst/>
          </a:prstGeom>
          <a:ln w="17780">
            <a:solidFill>
              <a:srgbClr val="437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65576" y="1965960"/>
            <a:ext cx="1143000" cy="777240"/>
          </a:xfrm>
          <a:prstGeom prst="roundRect">
            <a:avLst/>
          </a:prstGeom>
          <a:solidFill>
            <a:srgbClr val="E2EEF8"/>
          </a:solidFill>
          <a:ln>
            <a:solidFill>
              <a:srgbClr val="437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63500"/>
          <a:lstStyle/>
          <a:p>
            <a:pPr algn="ctr"/>
            <a:r>
              <a:rPr sz="950" b="1">
                <a:solidFill>
                  <a:srgbClr val="1F4E79"/>
                </a:solidFill>
                <a:latin typeface="맑은 고딕"/>
              </a:rPr>
              <a:t>Chunking</a:t>
            </a:r>
          </a:p>
          <a:p>
            <a:pPr algn="ctr"/>
            <a:r>
              <a:rPr sz="750" b="0">
                <a:solidFill>
                  <a:srgbClr val="282828"/>
                </a:solidFill>
                <a:latin typeface="맑은 고딕"/>
              </a:rPr>
              <a:t>문단/페이지 기준</a:t>
            </a:r>
            <a:br/>
            <a:r>
              <a:rPr sz="750" b="0">
                <a:solidFill>
                  <a:srgbClr val="282828"/>
                </a:solidFill>
                <a:latin typeface="맑은 고딕"/>
              </a:rPr>
              <a:t>분할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08576" y="2350008"/>
            <a:ext cx="210312" cy="0"/>
          </a:xfrm>
          <a:prstGeom prst="line">
            <a:avLst/>
          </a:prstGeom>
          <a:ln w="17780">
            <a:solidFill>
              <a:srgbClr val="437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855464" y="1965960"/>
            <a:ext cx="1143000" cy="777240"/>
          </a:xfrm>
          <a:prstGeom prst="roundRect">
            <a:avLst/>
          </a:prstGeom>
          <a:solidFill>
            <a:srgbClr val="E2EEF8"/>
          </a:solidFill>
          <a:ln>
            <a:solidFill>
              <a:srgbClr val="437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63500"/>
          <a:lstStyle/>
          <a:p>
            <a:pPr algn="ctr"/>
            <a:r>
              <a:rPr sz="950" b="1">
                <a:solidFill>
                  <a:srgbClr val="1F4E79"/>
                </a:solidFill>
                <a:latin typeface="맑은 고딕"/>
              </a:rPr>
              <a:t>Embedding</a:t>
            </a:r>
          </a:p>
          <a:p>
            <a:pPr algn="ctr"/>
            <a:r>
              <a:rPr sz="750" b="0">
                <a:solidFill>
                  <a:srgbClr val="282828"/>
                </a:solidFill>
                <a:latin typeface="맑은 고딕"/>
              </a:rPr>
              <a:t>chunk_id 기준</a:t>
            </a:r>
            <a:br/>
            <a:r>
              <a:rPr sz="750" b="0">
                <a:solidFill>
                  <a:srgbClr val="282828"/>
                </a:solidFill>
                <a:latin typeface="맑은 고딕"/>
              </a:rPr>
              <a:t>벡터화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98464" y="2350008"/>
            <a:ext cx="210312" cy="0"/>
          </a:xfrm>
          <a:prstGeom prst="line">
            <a:avLst/>
          </a:prstGeom>
          <a:ln w="17780">
            <a:solidFill>
              <a:srgbClr val="437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45352" y="1965960"/>
            <a:ext cx="1143000" cy="777240"/>
          </a:xfrm>
          <a:prstGeom prst="roundRect">
            <a:avLst/>
          </a:prstGeom>
          <a:solidFill>
            <a:srgbClr val="E2EEF8"/>
          </a:solidFill>
          <a:ln>
            <a:solidFill>
              <a:srgbClr val="437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63500"/>
          <a:lstStyle/>
          <a:p>
            <a:pPr algn="ctr"/>
            <a:r>
              <a:rPr sz="950" b="1">
                <a:solidFill>
                  <a:srgbClr val="1F4E79"/>
                </a:solidFill>
                <a:latin typeface="맑은 고딕"/>
              </a:rPr>
              <a:t>Search/Vector DB</a:t>
            </a:r>
          </a:p>
          <a:p>
            <a:pPr algn="ctr"/>
            <a:r>
              <a:rPr sz="750" b="0">
                <a:solidFill>
                  <a:srgbClr val="282828"/>
                </a:solidFill>
                <a:latin typeface="맑은 고딕"/>
              </a:rPr>
              <a:t>색인 + Vector DB</a:t>
            </a:r>
            <a:br/>
            <a:r>
              <a:rPr sz="750" b="0">
                <a:solidFill>
                  <a:srgbClr val="282828"/>
                </a:solidFill>
                <a:latin typeface="맑은 고딕"/>
              </a:rPr>
              <a:t>동시 적재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88352" y="2350008"/>
            <a:ext cx="210312" cy="0"/>
          </a:xfrm>
          <a:prstGeom prst="line">
            <a:avLst/>
          </a:prstGeom>
          <a:ln w="17780">
            <a:solidFill>
              <a:srgbClr val="437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635240" y="1965960"/>
            <a:ext cx="1143000" cy="777240"/>
          </a:xfrm>
          <a:prstGeom prst="roundRect">
            <a:avLst/>
          </a:prstGeom>
          <a:solidFill>
            <a:srgbClr val="E2EEF8"/>
          </a:solidFill>
          <a:ln>
            <a:solidFill>
              <a:srgbClr val="437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63500"/>
          <a:lstStyle/>
          <a:p>
            <a:pPr algn="ctr"/>
            <a:r>
              <a:rPr sz="950" b="1">
                <a:solidFill>
                  <a:srgbClr val="1F4E79"/>
                </a:solidFill>
                <a:latin typeface="맑은 고딕"/>
              </a:rPr>
              <a:t>Retriever</a:t>
            </a:r>
          </a:p>
          <a:p>
            <a:pPr algn="ctr"/>
            <a:r>
              <a:rPr sz="750" b="0">
                <a:solidFill>
                  <a:srgbClr val="282828"/>
                </a:solidFill>
                <a:latin typeface="맑은 고딕"/>
              </a:rPr>
              <a:t>근거 문단</a:t>
            </a:r>
            <a:br/>
            <a:r>
              <a:rPr sz="750" b="0">
                <a:solidFill>
                  <a:srgbClr val="282828"/>
                </a:solidFill>
                <a:latin typeface="맑은 고딕"/>
              </a:rPr>
              <a:t>검색/재순위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78240" y="2350008"/>
            <a:ext cx="210312" cy="0"/>
          </a:xfrm>
          <a:prstGeom prst="line">
            <a:avLst/>
          </a:prstGeom>
          <a:ln w="17780">
            <a:solidFill>
              <a:srgbClr val="437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25128" y="1965960"/>
            <a:ext cx="1143000" cy="777240"/>
          </a:xfrm>
          <a:prstGeom prst="roundRect">
            <a:avLst/>
          </a:prstGeom>
          <a:solidFill>
            <a:srgbClr val="E2EEF8"/>
          </a:solidFill>
          <a:ln>
            <a:solidFill>
              <a:srgbClr val="437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63500"/>
          <a:lstStyle/>
          <a:p>
            <a:pPr algn="ctr"/>
            <a:r>
              <a:rPr sz="950" b="1">
                <a:solidFill>
                  <a:srgbClr val="1F4E79"/>
                </a:solidFill>
                <a:latin typeface="맑은 고딕"/>
              </a:rPr>
              <a:t>Solar LLM</a:t>
            </a:r>
          </a:p>
          <a:p>
            <a:pPr algn="ctr"/>
            <a:r>
              <a:rPr sz="750" b="0">
                <a:solidFill>
                  <a:srgbClr val="282828"/>
                </a:solidFill>
                <a:latin typeface="맑은 고딕"/>
              </a:rPr>
              <a:t>답변·요약</a:t>
            </a:r>
            <a:br/>
            <a:r>
              <a:rPr sz="750" b="0">
                <a:solidFill>
                  <a:srgbClr val="282828"/>
                </a:solidFill>
                <a:latin typeface="맑은 고딕"/>
              </a:rPr>
              <a:t>초안 생성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168128" y="2350008"/>
            <a:ext cx="210312" cy="0"/>
          </a:xfrm>
          <a:prstGeom prst="line">
            <a:avLst/>
          </a:prstGeom>
          <a:ln w="17780">
            <a:solidFill>
              <a:srgbClr val="437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415016" y="1965960"/>
            <a:ext cx="1143000" cy="777240"/>
          </a:xfrm>
          <a:prstGeom prst="roundRect">
            <a:avLst/>
          </a:prstGeom>
          <a:solidFill>
            <a:srgbClr val="E2EEF8"/>
          </a:solidFill>
          <a:ln>
            <a:solidFill>
              <a:srgbClr val="437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63500"/>
          <a:lstStyle/>
          <a:p>
            <a:pPr algn="ctr"/>
            <a:r>
              <a:rPr sz="950" b="1">
                <a:solidFill>
                  <a:srgbClr val="1F4E79"/>
                </a:solidFill>
                <a:latin typeface="맑은 고딕"/>
              </a:rPr>
              <a:t>Groundedness</a:t>
            </a:r>
          </a:p>
          <a:p>
            <a:pPr algn="ctr"/>
            <a:r>
              <a:rPr sz="750" b="0">
                <a:solidFill>
                  <a:srgbClr val="282828"/>
                </a:solidFill>
                <a:latin typeface="맑은 고딕"/>
              </a:rPr>
              <a:t>근거 일치성</a:t>
            </a:r>
            <a:br/>
            <a:r>
              <a:rPr sz="750" b="0">
                <a:solidFill>
                  <a:srgbClr val="282828"/>
                </a:solidFill>
                <a:latin typeface="맑은 고딕"/>
              </a:rPr>
              <a:t>검증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337560"/>
            <a:ext cx="32461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7000" rIns="127000" tIns="101600" bIns="76200"/>
          <a:lstStyle/>
          <a:p>
            <a:pPr algn="ctr"/>
            <a:r>
              <a:rPr sz="1100" b="1">
                <a:solidFill>
                  <a:srgbClr val="1F4E79"/>
                </a:solidFill>
                <a:latin typeface="맑은 고딕"/>
              </a:rPr>
              <a:t>보고 메시지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문서 적재는 파일 저장이 아니라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검색/RAG가 사용할 수 있는 지식 데이터 전환 과정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337560"/>
            <a:ext cx="32461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7000" rIns="127000" tIns="101600" bIns="76200"/>
          <a:lstStyle/>
          <a:p>
            <a:pPr algn="ctr"/>
            <a:r>
              <a:rPr sz="1100" b="1">
                <a:solidFill>
                  <a:srgbClr val="1F4E79"/>
                </a:solidFill>
                <a:latin typeface="맑은 고딕"/>
              </a:rPr>
              <a:t>품질 확인 지점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OCR·파싱 성공률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청킹 단위 적정성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답변 근거 일치성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337560"/>
            <a:ext cx="32461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7000" rIns="127000" tIns="101600" bIns="76200"/>
          <a:lstStyle/>
          <a:p>
            <a:pPr algn="ctr"/>
            <a:r>
              <a:rPr sz="1100" b="1">
                <a:solidFill>
                  <a:srgbClr val="1F4E79"/>
                </a:solidFill>
                <a:latin typeface="맑은 고딕"/>
              </a:rPr>
              <a:t>관리 단위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document_id와 chunk_id 기준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원본, 색인, 벡터, 답변 출처 연결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806440"/>
            <a:ext cx="107442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9534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63500"/>
          <a:lstStyle/>
          <a:p>
            <a:pPr algn="ctr"/>
            <a:r>
              <a:rPr sz="950" b="1">
                <a:solidFill>
                  <a:srgbClr val="282828"/>
                </a:solidFill>
                <a:latin typeface="맑은 고딕"/>
              </a:rPr>
              <a:t>근거  SFR-005 비정형 문서 구조화/전처리, SFR-017 RAG, SFR-018 AI 지능형 검색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800" b="1">
                <a:solidFill>
                  <a:srgbClr val="282828"/>
                </a:solidFill>
                <a:latin typeface="맑은 고딕"/>
              </a:rPr>
              <a:t>소방출동 데이터 기반 AI빅데이터 분석시스템 구축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28600"/>
            <a:ext cx="164592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r"/>
            <a:r>
              <a:rPr sz="800" b="1">
                <a:solidFill>
                  <a:srgbClr val="282828"/>
                </a:solidFill>
                <a:latin typeface="맑은 고딕"/>
              </a:rPr>
              <a:t>보완자료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132320" cy="41148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2000" b="1">
                <a:solidFill>
                  <a:srgbClr val="282828"/>
                </a:solidFill>
                <a:latin typeface="맑은 고딕"/>
              </a:rPr>
              <a:t>11페이지 보완｜업로드 운영 시나리오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51560"/>
            <a:ext cx="7315200" cy="27432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맑은 고딕"/>
              </a:rPr>
              <a:t>수행 태스크를 운영 주체와 업로드 방식 기준으로 구체화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10744200" cy="36576"/>
          </a:xfrm>
          <a:prstGeom prst="rect">
            <a:avLst/>
          </a:prstGeom>
          <a:solidFill>
            <a:srgbClr val="28282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50992" y="6446520"/>
            <a:ext cx="914400" cy="18288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ctr"/>
            <a:r>
              <a:rPr sz="800" b="0">
                <a:solidFill>
                  <a:srgbClr val="5A5A5A"/>
                </a:solidFill>
                <a:latin typeface="맑은 고딕"/>
              </a:rPr>
              <a:t>- 2 -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783080"/>
            <a:ext cx="3154680" cy="2880360"/>
          </a:xfrm>
          <a:prstGeom prst="roundRect">
            <a:avLst/>
          </a:prstGeom>
          <a:solidFill>
            <a:srgbClr val="E2EEF8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7000" rIns="127000" tIns="101600" bIns="76200"/>
          <a:lstStyle/>
          <a:p>
            <a:pPr algn="ctr"/>
            <a:r>
              <a:rPr sz="1100" b="1">
                <a:solidFill>
                  <a:srgbClr val="1F4E79"/>
                </a:solidFill>
                <a:latin typeface="맑은 고딕"/>
              </a:rPr>
              <a:t>관리자 일괄 적재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기존 SOP·지침·보고서 묶음 등록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문서유형·부서·권한 기본값 지정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처리 결과와 실패 목록 확인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필요 시 재처리 실행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783080"/>
            <a:ext cx="3154680" cy="2880360"/>
          </a:xfrm>
          <a:prstGeom prst="roundRect">
            <a:avLst/>
          </a:prstGeom>
          <a:solidFill>
            <a:srgbClr val="F5F8FB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7000" rIns="127000" tIns="101600" bIns="76200"/>
          <a:lstStyle/>
          <a:p>
            <a:pPr algn="ctr"/>
            <a:r>
              <a:rPr sz="1100" b="1">
                <a:solidFill>
                  <a:srgbClr val="1F4E79"/>
                </a:solidFill>
                <a:latin typeface="맑은 고딕"/>
              </a:rPr>
              <a:t>사용자 개별 업로드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업무 담당자가 수시 문서 등록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업무구분·문서유형 직접 입력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처리 상태와 검색 반영 여부 확인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권한 범위 내 원문 열람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783080"/>
            <a:ext cx="3154680" cy="2880360"/>
          </a:xfrm>
          <a:prstGeom prst="roundRect">
            <a:avLst/>
          </a:prstGeom>
          <a:solidFill>
            <a:srgbClr val="E2EEF8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7000" rIns="127000" tIns="101600" bIns="76200"/>
          <a:lstStyle/>
          <a:p>
            <a:pPr algn="ctr"/>
            <a:r>
              <a:rPr sz="1100" b="1">
                <a:solidFill>
                  <a:srgbClr val="1F4E79"/>
                </a:solidFill>
                <a:latin typeface="맑은 고딕"/>
              </a:rPr>
              <a:t>시스템 연계 업로드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API·ETL·Crawler로 정기 수집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변경분·최신본·중복 여부 판단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오류 알림 및 재처리 로그 관리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연계 주기와 감사 이력 관리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06440"/>
            <a:ext cx="107442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9534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63500"/>
          <a:lstStyle/>
          <a:p>
            <a:pPr algn="ctr"/>
            <a:r>
              <a:rPr sz="950" b="1">
                <a:solidFill>
                  <a:srgbClr val="282828"/>
                </a:solidFill>
                <a:latin typeface="맑은 고딕"/>
              </a:rPr>
              <a:t>근거  SFR-004 문서정보 수집, SFR-005 문서 구조화 및 전처리 자동화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800" b="1">
                <a:solidFill>
                  <a:srgbClr val="282828"/>
                </a:solidFill>
                <a:latin typeface="맑은 고딕"/>
              </a:rPr>
              <a:t>소방출동 데이터 기반 AI빅데이터 분석시스템 구축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28600"/>
            <a:ext cx="164592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r"/>
            <a:r>
              <a:rPr sz="800" b="1">
                <a:solidFill>
                  <a:srgbClr val="282828"/>
                </a:solidFill>
                <a:latin typeface="맑은 고딕"/>
              </a:rPr>
              <a:t>보완자료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132320" cy="41148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2000" b="1">
                <a:solidFill>
                  <a:srgbClr val="282828"/>
                </a:solidFill>
                <a:latin typeface="맑은 고딕"/>
              </a:rPr>
              <a:t>12페이지 보완｜검색/RAG 검증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51560"/>
            <a:ext cx="7315200" cy="27432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맑은 고딕"/>
              </a:rPr>
              <a:t>검색 방식별 확인 기준과 RAG 답변 품질 기준을 분리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10744200" cy="36576"/>
          </a:xfrm>
          <a:prstGeom prst="rect">
            <a:avLst/>
          </a:prstGeom>
          <a:solidFill>
            <a:srgbClr val="28282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50992" y="6446520"/>
            <a:ext cx="914400" cy="18288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ctr"/>
            <a:r>
              <a:rPr sz="800" b="0">
                <a:solidFill>
                  <a:srgbClr val="5A5A5A"/>
                </a:solidFill>
                <a:latin typeface="맑은 고딕"/>
              </a:rPr>
              <a:t>- 3 -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691640"/>
          <a:ext cx="106527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190"/>
                <a:gridCol w="2663190"/>
                <a:gridCol w="2663190"/>
                <a:gridCol w="2663190"/>
              </a:tblGrid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82828"/>
                          </a:solidFill>
                          <a:latin typeface="맑은 고딕"/>
                        </a:rPr>
                        <a:t>검증 항목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82828"/>
                          </a:solidFill>
                          <a:latin typeface="맑은 고딕"/>
                        </a:rPr>
                        <a:t>확인 기준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82828"/>
                          </a:solidFill>
                          <a:latin typeface="맑은 고딕"/>
                        </a:rPr>
                        <a:t>판정 기준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82828"/>
                          </a:solidFill>
                          <a:latin typeface="맑은 고딕"/>
                        </a:rPr>
                        <a:t>관련 기능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82828"/>
                          </a:solidFill>
                          <a:latin typeface="맑은 고딕"/>
                        </a:rPr>
                        <a:t>색인검색</a:t>
                      </a:r>
                    </a:p>
                  </a:txBody>
                  <a:tcPr>
                    <a:solidFill>
                      <a:srgbClr val="E2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82828"/>
                          </a:solidFill>
                          <a:latin typeface="맑은 고딕"/>
                        </a:rPr>
                        <a:t>문서명·제목·메타데이터 검색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82828"/>
                          </a:solidFill>
                          <a:latin typeface="맑은 고딕"/>
                        </a:rPr>
                        <a:t>정확 문서가 상위 노출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82828"/>
                          </a:solidFill>
                          <a:latin typeface="맑은 고딕"/>
                        </a:rPr>
                        <a:t>Search Index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82828"/>
                          </a:solidFill>
                          <a:latin typeface="맑은 고딕"/>
                        </a:rPr>
                        <a:t>키워드검색</a:t>
                      </a:r>
                    </a:p>
                  </a:txBody>
                  <a:tcPr>
                    <a:solidFill>
                      <a:srgbClr val="E2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82828"/>
                          </a:solidFill>
                          <a:latin typeface="맑은 고딕"/>
                        </a:rPr>
                        <a:t>본문 키워드·동의어 검색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82828"/>
                          </a:solidFill>
                          <a:latin typeface="맑은 고딕"/>
                        </a:rPr>
                        <a:t>누락/오탐 최소화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82828"/>
                          </a:solidFill>
                          <a:latin typeface="맑은 고딕"/>
                        </a:rPr>
                        <a:t>Full-text Search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82828"/>
                          </a:solidFill>
                          <a:latin typeface="맑은 고딕"/>
                        </a:rPr>
                        <a:t>벡터검색</a:t>
                      </a:r>
                    </a:p>
                  </a:txBody>
                  <a:tcPr>
                    <a:solidFill>
                      <a:srgbClr val="E2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82828"/>
                          </a:solidFill>
                          <a:latin typeface="맑은 고딕"/>
                        </a:rPr>
                        <a:t>의미 유사 문단 검색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82828"/>
                          </a:solidFill>
                          <a:latin typeface="맑은 고딕"/>
                        </a:rPr>
                        <a:t>관련 문단 재현성 확인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82828"/>
                          </a:solidFill>
                          <a:latin typeface="맑은 고딕"/>
                        </a:rPr>
                        <a:t>Embedding / Vector DB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82828"/>
                          </a:solidFill>
                          <a:latin typeface="맑은 고딕"/>
                        </a:rPr>
                        <a:t>RAG 답변</a:t>
                      </a:r>
                    </a:p>
                  </a:txBody>
                  <a:tcPr>
                    <a:solidFill>
                      <a:srgbClr val="E2EE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82828"/>
                          </a:solidFill>
                          <a:latin typeface="맑은 고딕"/>
                        </a:rPr>
                        <a:t>답변·출처·원문 문단 표시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82828"/>
                          </a:solidFill>
                          <a:latin typeface="맑은 고딕"/>
                        </a:rPr>
                        <a:t>Groundedness 통과 및 권한 필터 적용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82828"/>
                          </a:solidFill>
                          <a:latin typeface="맑은 고딕"/>
                        </a:rPr>
                        <a:t>Retriever / Solar LLM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68680" y="4892040"/>
            <a:ext cx="32004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7000" rIns="127000" tIns="101600" bIns="76200"/>
          <a:lstStyle/>
          <a:p>
            <a:pPr algn="ctr"/>
            <a:r>
              <a:rPr sz="1100" b="1">
                <a:solidFill>
                  <a:srgbClr val="1F4E79"/>
                </a:solidFill>
                <a:latin typeface="맑은 고딕"/>
              </a:rPr>
              <a:t>권한 필터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권한 없는 문서는 검색·답변 근거에서 제외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892040"/>
            <a:ext cx="32004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7000" rIns="127000" tIns="101600" bIns="76200"/>
          <a:lstStyle/>
          <a:p>
            <a:pPr algn="ctr"/>
            <a:r>
              <a:rPr sz="1100" b="1">
                <a:solidFill>
                  <a:srgbClr val="1F4E79"/>
                </a:solidFill>
                <a:latin typeface="맑은 고딕"/>
              </a:rPr>
              <a:t>개인정보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마스킹 필요 항목은 답변과 원문 노출 전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4892040"/>
            <a:ext cx="32004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7000" rIns="127000" tIns="101600" bIns="76200"/>
          <a:lstStyle/>
          <a:p>
            <a:pPr algn="ctr"/>
            <a:r>
              <a:rPr sz="1100" b="1">
                <a:solidFill>
                  <a:srgbClr val="1F4E79"/>
                </a:solidFill>
                <a:latin typeface="맑은 고딕"/>
              </a:rPr>
              <a:t>출처 표시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문서명, 페이지, 문단, 최신본 여부를 함께 표시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806440"/>
            <a:ext cx="107442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9534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63500"/>
          <a:lstStyle/>
          <a:p>
            <a:pPr algn="ctr"/>
            <a:r>
              <a:rPr sz="950" b="1">
                <a:solidFill>
                  <a:srgbClr val="282828"/>
                </a:solidFill>
                <a:latin typeface="맑은 고딕"/>
              </a:rPr>
              <a:t>근거  SFR-017 RAG 기능, SFR-018 AI 지능형 검색 기능, 공공문서 권한·출처 관리 기준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800" b="1">
                <a:solidFill>
                  <a:srgbClr val="282828"/>
                </a:solidFill>
                <a:latin typeface="맑은 고딕"/>
              </a:rPr>
              <a:t>소방출동 데이터 기반 AI빅데이터 분석시스템 구축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28600"/>
            <a:ext cx="164592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r"/>
            <a:r>
              <a:rPr sz="800" b="1">
                <a:solidFill>
                  <a:srgbClr val="282828"/>
                </a:solidFill>
                <a:latin typeface="맑은 고딕"/>
              </a:rPr>
              <a:t>보완자료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132320" cy="41148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2000" b="1">
                <a:solidFill>
                  <a:srgbClr val="282828"/>
                </a:solidFill>
                <a:latin typeface="맑은 고딕"/>
              </a:rPr>
              <a:t>14페이지 보완｜문서 업로드 운영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51560"/>
            <a:ext cx="7315200" cy="27432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맑은 고딕"/>
              </a:rPr>
              <a:t>업로드 방식은 달라도 완료 기준은 동일하게 관리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10744200" cy="36576"/>
          </a:xfrm>
          <a:prstGeom prst="rect">
            <a:avLst/>
          </a:prstGeom>
          <a:solidFill>
            <a:srgbClr val="28282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50992" y="6446520"/>
            <a:ext cx="914400" cy="18288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ctr"/>
            <a:r>
              <a:rPr sz="800" b="0">
                <a:solidFill>
                  <a:srgbClr val="5A5A5A"/>
                </a:solidFill>
                <a:latin typeface="맑은 고딕"/>
              </a:rPr>
              <a:t>- 4 -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1078992" cy="658368"/>
          </a:xfrm>
          <a:prstGeom prst="roundRect">
            <a:avLst/>
          </a:prstGeom>
          <a:solidFill>
            <a:srgbClr val="E2EEF8"/>
          </a:solidFill>
          <a:ln>
            <a:solidFill>
              <a:srgbClr val="437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63500"/>
          <a:lstStyle/>
          <a:p>
            <a:pPr algn="ctr"/>
            <a:r>
              <a:rPr sz="950" b="1">
                <a:solidFill>
                  <a:srgbClr val="1F4E79"/>
                </a:solidFill>
                <a:latin typeface="맑은 고딕"/>
              </a:rPr>
              <a:t>업로드</a:t>
            </a:r>
          </a:p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856231" y="2157984"/>
            <a:ext cx="210313" cy="0"/>
          </a:xfrm>
          <a:prstGeom prst="line">
            <a:avLst/>
          </a:prstGeom>
          <a:ln w="17780">
            <a:solidFill>
              <a:srgbClr val="437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12264" y="1828800"/>
            <a:ext cx="1078992" cy="658368"/>
          </a:xfrm>
          <a:prstGeom prst="roundRect">
            <a:avLst/>
          </a:prstGeom>
          <a:solidFill>
            <a:srgbClr val="E2EEF8"/>
          </a:solidFill>
          <a:ln>
            <a:solidFill>
              <a:srgbClr val="437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63500"/>
          <a:lstStyle/>
          <a:p>
            <a:pPr algn="ctr"/>
            <a:r>
              <a:rPr sz="950" b="1">
                <a:solidFill>
                  <a:srgbClr val="1F4E79"/>
                </a:solidFill>
                <a:latin typeface="맑은 고딕"/>
              </a:rPr>
              <a:t>형식 검증</a:t>
            </a:r>
          </a:p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191256" y="2157984"/>
            <a:ext cx="210312" cy="0"/>
          </a:xfrm>
          <a:prstGeom prst="line">
            <a:avLst/>
          </a:prstGeom>
          <a:ln w="17780">
            <a:solidFill>
              <a:srgbClr val="437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47288" y="1828800"/>
            <a:ext cx="1078992" cy="658368"/>
          </a:xfrm>
          <a:prstGeom prst="roundRect">
            <a:avLst/>
          </a:prstGeom>
          <a:solidFill>
            <a:srgbClr val="E2EEF8"/>
          </a:solidFill>
          <a:ln>
            <a:solidFill>
              <a:srgbClr val="437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63500"/>
          <a:lstStyle/>
          <a:p>
            <a:pPr algn="ctr"/>
            <a:r>
              <a:rPr sz="950" b="1">
                <a:solidFill>
                  <a:srgbClr val="1F4E79"/>
                </a:solidFill>
                <a:latin typeface="맑은 고딕"/>
              </a:rPr>
              <a:t>메타데이터</a:t>
            </a:r>
          </a:p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526280" y="2157984"/>
            <a:ext cx="210312" cy="0"/>
          </a:xfrm>
          <a:prstGeom prst="line">
            <a:avLst/>
          </a:prstGeom>
          <a:ln w="17780">
            <a:solidFill>
              <a:srgbClr val="437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782312" y="1828800"/>
            <a:ext cx="1078992" cy="658368"/>
          </a:xfrm>
          <a:prstGeom prst="roundRect">
            <a:avLst/>
          </a:prstGeom>
          <a:solidFill>
            <a:srgbClr val="E2EEF8"/>
          </a:solidFill>
          <a:ln>
            <a:solidFill>
              <a:srgbClr val="437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63500"/>
          <a:lstStyle/>
          <a:p>
            <a:pPr algn="ctr"/>
            <a:r>
              <a:rPr sz="950" b="1">
                <a:solidFill>
                  <a:srgbClr val="1F4E79"/>
                </a:solidFill>
                <a:latin typeface="맑은 고딕"/>
              </a:rPr>
              <a:t>권한 확인</a:t>
            </a:r>
          </a:p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861303" y="2157984"/>
            <a:ext cx="210313" cy="0"/>
          </a:xfrm>
          <a:prstGeom prst="line">
            <a:avLst/>
          </a:prstGeom>
          <a:ln w="17780">
            <a:solidFill>
              <a:srgbClr val="437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17336" y="1828800"/>
            <a:ext cx="1078992" cy="658368"/>
          </a:xfrm>
          <a:prstGeom prst="roundRect">
            <a:avLst/>
          </a:prstGeom>
          <a:solidFill>
            <a:srgbClr val="E2EEF8"/>
          </a:solidFill>
          <a:ln>
            <a:solidFill>
              <a:srgbClr val="437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63500"/>
          <a:lstStyle/>
          <a:p>
            <a:pPr algn="ctr"/>
            <a:r>
              <a:rPr sz="950" b="1">
                <a:solidFill>
                  <a:srgbClr val="1F4E79"/>
                </a:solidFill>
                <a:latin typeface="맑은 고딕"/>
              </a:rPr>
              <a:t>파싱/청킹</a:t>
            </a:r>
          </a:p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7196327" y="2157984"/>
            <a:ext cx="210313" cy="0"/>
          </a:xfrm>
          <a:prstGeom prst="line">
            <a:avLst/>
          </a:prstGeom>
          <a:ln w="17780">
            <a:solidFill>
              <a:srgbClr val="437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52360" y="1828800"/>
            <a:ext cx="1078992" cy="658368"/>
          </a:xfrm>
          <a:prstGeom prst="roundRect">
            <a:avLst/>
          </a:prstGeom>
          <a:solidFill>
            <a:srgbClr val="E2EEF8"/>
          </a:solidFill>
          <a:ln>
            <a:solidFill>
              <a:srgbClr val="437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63500"/>
          <a:lstStyle/>
          <a:p>
            <a:pPr algn="ctr"/>
            <a:r>
              <a:rPr sz="950" b="1">
                <a:solidFill>
                  <a:srgbClr val="1F4E79"/>
                </a:solidFill>
                <a:latin typeface="맑은 고딕"/>
              </a:rPr>
              <a:t>임베딩/색인</a:t>
            </a:r>
          </a:p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8531352" y="2157984"/>
            <a:ext cx="210311" cy="0"/>
          </a:xfrm>
          <a:prstGeom prst="line">
            <a:avLst/>
          </a:prstGeom>
          <a:ln w="17780">
            <a:solidFill>
              <a:srgbClr val="437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787384" y="1828800"/>
            <a:ext cx="1078992" cy="658368"/>
          </a:xfrm>
          <a:prstGeom prst="roundRect">
            <a:avLst/>
          </a:prstGeom>
          <a:solidFill>
            <a:srgbClr val="E2EEF8"/>
          </a:solidFill>
          <a:ln>
            <a:solidFill>
              <a:srgbClr val="437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63500"/>
          <a:lstStyle/>
          <a:p>
            <a:pPr algn="ctr"/>
            <a:r>
              <a:rPr sz="950" b="1">
                <a:solidFill>
                  <a:srgbClr val="1F4E79"/>
                </a:solidFill>
                <a:latin typeface="맑은 고딕"/>
              </a:rPr>
              <a:t>검증</a:t>
            </a:r>
          </a:p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9866376" y="2157984"/>
            <a:ext cx="210311" cy="0"/>
          </a:xfrm>
          <a:prstGeom prst="line">
            <a:avLst/>
          </a:prstGeom>
          <a:ln w="17780">
            <a:solidFill>
              <a:srgbClr val="437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122407" y="1828800"/>
            <a:ext cx="1078992" cy="658368"/>
          </a:xfrm>
          <a:prstGeom prst="roundRect">
            <a:avLst/>
          </a:prstGeom>
          <a:solidFill>
            <a:srgbClr val="E2EEF8"/>
          </a:solidFill>
          <a:ln>
            <a:solidFill>
              <a:srgbClr val="437E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63500"/>
          <a:lstStyle/>
          <a:p>
            <a:pPr algn="ctr"/>
            <a:r>
              <a:rPr sz="950" b="1">
                <a:solidFill>
                  <a:srgbClr val="1F4E79"/>
                </a:solidFill>
                <a:latin typeface="맑은 고딕"/>
              </a:rPr>
              <a:t>완료/재처리</a:t>
            </a:r>
          </a:p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" y="3063240"/>
            <a:ext cx="2560320" cy="1325880"/>
          </a:xfrm>
          <a:prstGeom prst="roundRect">
            <a:avLst/>
          </a:prstGeom>
          <a:solidFill>
            <a:srgbClr val="E2EEF8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7000" rIns="127000" tIns="101600" bIns="76200"/>
          <a:lstStyle/>
          <a:p>
            <a:pPr algn="ctr"/>
            <a:r>
              <a:rPr sz="1100" b="1">
                <a:solidFill>
                  <a:srgbClr val="1F4E79"/>
                </a:solidFill>
                <a:latin typeface="맑은 고딕"/>
              </a:rPr>
              <a:t>일괄 업로드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초기 구축·정기 이관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대량 문서 재색인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실패 건 재처리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11880" y="3063240"/>
            <a:ext cx="2560320" cy="1325880"/>
          </a:xfrm>
          <a:prstGeom prst="roundRect">
            <a:avLst/>
          </a:prstGeom>
          <a:solidFill>
            <a:srgbClr val="F5F8FB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7000" rIns="127000" tIns="101600" bIns="76200"/>
          <a:lstStyle/>
          <a:p>
            <a:pPr algn="ctr"/>
            <a:r>
              <a:rPr sz="1100" b="1">
                <a:solidFill>
                  <a:srgbClr val="1F4E79"/>
                </a:solidFill>
                <a:latin typeface="맑은 고딕"/>
              </a:rPr>
              <a:t>개별 업로드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부서별 업무 문서 등록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문서유형·권한 입력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처리 상태 확인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063240"/>
            <a:ext cx="2560320" cy="1325880"/>
          </a:xfrm>
          <a:prstGeom prst="roundRect">
            <a:avLst/>
          </a:prstGeom>
          <a:solidFill>
            <a:srgbClr val="E2EEF8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7000" rIns="127000" tIns="101600" bIns="76200"/>
          <a:lstStyle/>
          <a:p>
            <a:pPr algn="ctr"/>
            <a:r>
              <a:rPr sz="1100" b="1">
                <a:solidFill>
                  <a:srgbClr val="1F4E79"/>
                </a:solidFill>
                <a:latin typeface="맑은 고딕"/>
              </a:rPr>
              <a:t>시스템 연계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API·ETL·Crawler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변경분 감지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연계 오류 알림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3063240"/>
            <a:ext cx="2057400" cy="1325880"/>
          </a:xfrm>
          <a:prstGeom prst="roundRect">
            <a:avLst/>
          </a:prstGeom>
          <a:solidFill>
            <a:srgbClr val="F5F8FB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7000" rIns="127000" tIns="101600" bIns="76200"/>
          <a:lstStyle/>
          <a:p>
            <a:pPr algn="ctr"/>
            <a:r>
              <a:rPr sz="1100" b="1">
                <a:solidFill>
                  <a:srgbClr val="1F4E79"/>
                </a:solidFill>
                <a:latin typeface="맑은 고딕"/>
              </a:rPr>
              <a:t>운영 결과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검색 반영 여부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오류 원인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감사 이력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806440"/>
            <a:ext cx="107442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9534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63500"/>
          <a:lstStyle/>
          <a:p>
            <a:pPr algn="ctr"/>
            <a:r>
              <a:rPr sz="950" b="1">
                <a:solidFill>
                  <a:srgbClr val="282828"/>
                </a:solidFill>
                <a:latin typeface="맑은 고딕"/>
              </a:rPr>
              <a:t>근거  SFR-004 문서정보 수집, SFR-005 구조화/전처리, 운영 이력·오류 재처리 관리 필요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48640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800" b="1">
                <a:solidFill>
                  <a:srgbClr val="282828"/>
                </a:solidFill>
                <a:latin typeface="맑은 고딕"/>
              </a:rPr>
              <a:t>소방출동 데이터 기반 AI빅데이터 분석시스템 구축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228600"/>
            <a:ext cx="1645920" cy="22860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r"/>
            <a:r>
              <a:rPr sz="800" b="1">
                <a:solidFill>
                  <a:srgbClr val="282828"/>
                </a:solidFill>
                <a:latin typeface="맑은 고딕"/>
              </a:rPr>
              <a:t>보완자료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7132320" cy="41148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2000" b="1">
                <a:solidFill>
                  <a:srgbClr val="282828"/>
                </a:solidFill>
                <a:latin typeface="맑은 고딕"/>
              </a:rPr>
              <a:t>15페이지 대체｜비정형 데이터 적재 완료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51560"/>
            <a:ext cx="7315200" cy="27432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맑은 고딕"/>
              </a:rPr>
              <a:t>완료 판단을 원본 저장 이후 검색/RAG 검증까지 확장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53312"/>
            <a:ext cx="10744200" cy="36576"/>
          </a:xfrm>
          <a:prstGeom prst="rect">
            <a:avLst/>
          </a:prstGeom>
          <a:solidFill>
            <a:srgbClr val="282828"/>
          </a:solidFill>
          <a:ln>
            <a:solidFill>
              <a:srgbClr val="2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50992" y="6446520"/>
            <a:ext cx="914400" cy="182880"/>
          </a:xfrm>
          <a:prstGeom prst="rect">
            <a:avLst/>
          </a:prstGeom>
          <a:noFill/>
        </p:spPr>
        <p:txBody>
          <a:bodyPr wrap="none" lIns="25400" rIns="25400" tIns="25400" bIns="25400">
            <a:spAutoFit/>
          </a:bodyPr>
          <a:lstStyle/>
          <a:p>
            <a:pPr algn="ctr"/>
            <a:r>
              <a:rPr sz="800" b="0">
                <a:solidFill>
                  <a:srgbClr val="5A5A5A"/>
                </a:solidFill>
                <a:latin typeface="맑은 고딕"/>
              </a:rPr>
              <a:t>- 5 -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37360"/>
            <a:ext cx="3154680" cy="1051560"/>
          </a:xfrm>
          <a:prstGeom prst="roundRect">
            <a:avLst/>
          </a:prstGeom>
          <a:solidFill>
            <a:srgbClr val="E2EEF8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7000" rIns="127000" tIns="101600" bIns="76200"/>
          <a:lstStyle/>
          <a:p>
            <a:pPr algn="ctr"/>
            <a:r>
              <a:rPr sz="1100" b="1">
                <a:solidFill>
                  <a:srgbClr val="1F4E79"/>
                </a:solidFill>
                <a:latin typeface="맑은 고딕"/>
              </a:rPr>
              <a:t>원본 저장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원본 파일 보관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document_id 부여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737360"/>
            <a:ext cx="3154680" cy="1051560"/>
          </a:xfrm>
          <a:prstGeom prst="roundRect">
            <a:avLst/>
          </a:prstGeom>
          <a:solidFill>
            <a:srgbClr val="E2EEF8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7000" rIns="127000" tIns="101600" bIns="76200"/>
          <a:lstStyle/>
          <a:p>
            <a:pPr algn="ctr"/>
            <a:r>
              <a:rPr sz="1100" b="1">
                <a:solidFill>
                  <a:srgbClr val="1F4E79"/>
                </a:solidFill>
                <a:latin typeface="맑은 고딕"/>
              </a:rPr>
              <a:t>메타데이터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문서유형·부서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권한·버전·최신본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737360"/>
            <a:ext cx="3154680" cy="1051560"/>
          </a:xfrm>
          <a:prstGeom prst="roundRect">
            <a:avLst/>
          </a:prstGeom>
          <a:solidFill>
            <a:srgbClr val="E2EEF8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7000" rIns="127000" tIns="101600" bIns="76200"/>
          <a:lstStyle/>
          <a:p>
            <a:pPr algn="ctr"/>
            <a:r>
              <a:rPr sz="1100" b="1">
                <a:solidFill>
                  <a:srgbClr val="1F4E79"/>
                </a:solidFill>
                <a:latin typeface="맑은 고딕"/>
              </a:rPr>
              <a:t>파싱/청킹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본문·표·이미지 텍스트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chunk_id 생성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246120"/>
            <a:ext cx="3154680" cy="1051560"/>
          </a:xfrm>
          <a:prstGeom prst="roundRect">
            <a:avLst/>
          </a:prstGeom>
          <a:solidFill>
            <a:srgbClr val="F5F8FB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7000" rIns="127000" tIns="101600" bIns="76200"/>
          <a:lstStyle/>
          <a:p>
            <a:pPr algn="ctr"/>
            <a:r>
              <a:rPr sz="1100" b="1">
                <a:solidFill>
                  <a:srgbClr val="1F4E79"/>
                </a:solidFill>
                <a:latin typeface="맑은 고딕"/>
              </a:rPr>
              <a:t>임베딩/색인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Vector DB 적재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검색 색인 생성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3246120"/>
            <a:ext cx="3154680" cy="1051560"/>
          </a:xfrm>
          <a:prstGeom prst="roundRect">
            <a:avLst/>
          </a:prstGeom>
          <a:solidFill>
            <a:srgbClr val="F5F8FB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7000" rIns="127000" tIns="101600" bIns="76200"/>
          <a:lstStyle/>
          <a:p>
            <a:pPr algn="ctr"/>
            <a:r>
              <a:rPr sz="1100" b="1">
                <a:solidFill>
                  <a:srgbClr val="1F4E79"/>
                </a:solidFill>
                <a:latin typeface="맑은 고딕"/>
              </a:rPr>
              <a:t>검색/RAG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검색 결과 재현성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답변 출처·Groundedness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246120"/>
            <a:ext cx="3154680" cy="1051560"/>
          </a:xfrm>
          <a:prstGeom prst="roundRect">
            <a:avLst/>
          </a:prstGeom>
          <a:solidFill>
            <a:srgbClr val="F5F8FB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7000" rIns="127000" tIns="101600" bIns="76200"/>
          <a:lstStyle/>
          <a:p>
            <a:pPr algn="ctr"/>
            <a:r>
              <a:rPr sz="1100" b="1">
                <a:solidFill>
                  <a:srgbClr val="1F4E79"/>
                </a:solidFill>
                <a:latin typeface="맑은 고딕"/>
              </a:rPr>
              <a:t>권한/운영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권한 필터·개인정보</a:t>
            </a:r>
          </a:p>
          <a:p>
            <a:pPr>
              <a:spcBef>
                <a:spcPts val="200"/>
              </a:spcBef>
            </a:pPr>
            <a:r>
              <a:rPr sz="850" b="0">
                <a:solidFill>
                  <a:srgbClr val="282828"/>
                </a:solidFill>
                <a:latin typeface="맑은 고딕"/>
              </a:rPr>
              <a:t>오류·재처리 이력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074920"/>
            <a:ext cx="106984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95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/>
          <a:lstStyle/>
          <a:p>
            <a:pPr algn="ctr"/>
            <a:r>
              <a:rPr sz="1100" b="1">
                <a:solidFill>
                  <a:srgbClr val="282828"/>
                </a:solidFill>
                <a:latin typeface="맑은 고딕"/>
              </a:rPr>
              <a:t>완료 판정: 원본, 메타데이터, 파싱/청킹, 임베딩/색인, 검색/RAG, 권한·출처 검증이 모두 확인된 상태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806440"/>
            <a:ext cx="1074420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9534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63500"/>
          <a:lstStyle/>
          <a:p>
            <a:pPr algn="ctr"/>
            <a:r>
              <a:rPr sz="950" b="1">
                <a:solidFill>
                  <a:srgbClr val="282828"/>
                </a:solidFill>
                <a:latin typeface="맑은 고딕"/>
              </a:rPr>
              <a:t>근거  SFR-004, SFR-005, SFR-017, SFR-018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