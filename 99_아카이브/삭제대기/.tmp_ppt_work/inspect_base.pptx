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4" r:id="rId44"/>
  </p:sldMasterIdLst>
  <p:notesMasterIdLst>
    <p:notesMasterId r:id="rId60"/>
  </p:notesMasterIdLst>
  <p:handoutMasterIdLst>
    <p:handoutMasterId r:id="rId61"/>
  </p:handoutMasterIdLst>
  <p:sldIdLst>
    <p:sldId id="587" r:id="rId45"/>
    <p:sldId id="563" r:id="rId46"/>
    <p:sldId id="588" r:id="rId47"/>
    <p:sldId id="591" r:id="rId48"/>
    <p:sldId id="592" r:id="rId49"/>
    <p:sldId id="594" r:id="rId50"/>
    <p:sldId id="597" r:id="rId51"/>
    <p:sldId id="593" r:id="rId52"/>
    <p:sldId id="595" r:id="rId53"/>
    <p:sldId id="599" r:id="rId54"/>
    <p:sldId id="598" r:id="rId55"/>
    <p:sldId id="600" r:id="rId56"/>
    <p:sldId id="603" r:id="rId57"/>
    <p:sldId id="604" r:id="rId58"/>
    <p:sldId id="558" r:id="rId59"/>
  </p:sldIdLst>
  <p:sldSz cx="9906000" cy="6858000" type="A4"/>
  <p:notesSz cx="6865938" cy="99980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">
          <p15:clr>
            <a:srgbClr val="A4A3A4"/>
          </p15:clr>
        </p15:guide>
        <p15:guide id="2" orient="horz" pos="4020">
          <p15:clr>
            <a:srgbClr val="A4A3A4"/>
          </p15:clr>
        </p15:guide>
        <p15:guide id="3" orient="horz" pos="490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845">
          <p15:clr>
            <a:srgbClr val="A4A3A4"/>
          </p15:clr>
        </p15:guide>
        <p15:guide id="6" orient="horz" pos="1376">
          <p15:clr>
            <a:srgbClr val="A4A3A4"/>
          </p15:clr>
        </p15:guide>
        <p15:guide id="7" orient="horz" pos="2387">
          <p15:clr>
            <a:srgbClr val="A4A3A4"/>
          </p15:clr>
        </p15:guide>
        <p15:guide id="8" pos="2258">
          <p15:clr>
            <a:srgbClr val="A4A3A4"/>
          </p15:clr>
        </p15:guide>
        <p15:guide id="9" pos="240">
          <p15:clr>
            <a:srgbClr val="A4A3A4"/>
          </p15:clr>
        </p15:guide>
        <p15:guide id="10" pos="6000">
          <p15:clr>
            <a:srgbClr val="A4A3A4"/>
          </p15:clr>
        </p15:guide>
        <p15:guide id="11" pos="234">
          <p15:clr>
            <a:srgbClr val="A4A3A4"/>
          </p15:clr>
        </p15:guide>
        <p15:guide id="12" pos="3120">
          <p15:clr>
            <a:srgbClr val="A4A3A4"/>
          </p15:clr>
        </p15:guide>
        <p15:guide id="13" pos="4617">
          <p15:clr>
            <a:srgbClr val="A4A3A4"/>
          </p15:clr>
        </p15:guide>
        <p15:guide id="14" orient="horz" pos="1162">
          <p15:clr>
            <a:srgbClr val="A4A3A4"/>
          </p15:clr>
        </p15:guide>
        <p15:guide id="15" pos="2122">
          <p15:clr>
            <a:srgbClr val="A4A3A4"/>
          </p15:clr>
        </p15:guide>
        <p15:guide id="16" pos="398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2" userDrawn="1">
          <p15:clr>
            <a:srgbClr val="A4A3A4"/>
          </p15:clr>
        </p15:guide>
        <p15:guide id="3" orient="horz" pos="3149" userDrawn="1">
          <p15:clr>
            <a:srgbClr val="A4A3A4"/>
          </p15:clr>
        </p15:guide>
        <p15:guide id="4" pos="216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C000"/>
    <a:srgbClr val="ED7D31"/>
    <a:srgbClr val="5D8ABB"/>
    <a:srgbClr val="A5A5A5"/>
    <a:srgbClr val="4472C4"/>
    <a:srgbClr val="376092"/>
    <a:srgbClr val="1D2F44"/>
    <a:srgbClr val="00441B"/>
    <a:srgbClr val="1D86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4353" autoAdjust="0"/>
  </p:normalViewPr>
  <p:slideViewPr>
    <p:cSldViewPr snapToObjects="1" showGuides="1">
      <p:cViewPr varScale="1">
        <p:scale>
          <a:sx n="160" d="100"/>
          <a:sy n="160" d="100"/>
        </p:scale>
        <p:origin x="1944" y="138"/>
      </p:cViewPr>
      <p:guideLst>
        <p:guide orient="horz" pos="73"/>
        <p:guide orient="horz" pos="4020"/>
        <p:guide orient="horz" pos="490"/>
        <p:guide orient="horz" pos="3974"/>
        <p:guide orient="horz" pos="845"/>
        <p:guide orient="horz" pos="1376"/>
        <p:guide orient="horz" pos="2387"/>
        <p:guide pos="2258"/>
        <p:guide pos="240"/>
        <p:guide pos="6000"/>
        <p:guide pos="234"/>
        <p:guide pos="3120"/>
        <p:guide pos="4617"/>
        <p:guide orient="horz" pos="1162"/>
        <p:guide pos="2122"/>
        <p:guide pos="3982"/>
      </p:guideLst>
    </p:cSldViewPr>
  </p:slideViewPr>
  <p:outlineViewPr>
    <p:cViewPr>
      <p:scale>
        <a:sx n="33" d="100"/>
        <a:sy n="33" d="100"/>
      </p:scale>
      <p:origin x="0" y="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450"/>
    </p:cViewPr>
  </p:sorterViewPr>
  <p:notesViewPr>
    <p:cSldViewPr snapToObjects="1" showGuides="1">
      <p:cViewPr varScale="1">
        <p:scale>
          <a:sx n="80" d="100"/>
          <a:sy n="80" d="100"/>
        </p:scale>
        <p:origin x="3996" y="108"/>
      </p:cViewPr>
      <p:guideLst>
        <p:guide orient="horz" pos="3129"/>
        <p:guide pos="2142"/>
        <p:guide orient="horz" pos="3149"/>
        <p:guide pos="216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34" Type="http://schemas.openxmlformats.org/officeDocument/2006/relationships/customXml" Target="../customXml/item34.xml"/><Relationship Id="rId42" Type="http://schemas.openxmlformats.org/officeDocument/2006/relationships/customXml" Target="../customXml/item42.xml"/><Relationship Id="rId47" Type="http://schemas.openxmlformats.org/officeDocument/2006/relationships/slide" Target="slides/slide3.xml"/><Relationship Id="rId50" Type="http://schemas.openxmlformats.org/officeDocument/2006/relationships/slide" Target="slides/slide6.xml"/><Relationship Id="rId55" Type="http://schemas.openxmlformats.org/officeDocument/2006/relationships/slide" Target="slides/slide11.xml"/><Relationship Id="rId63" Type="http://schemas.openxmlformats.org/officeDocument/2006/relationships/viewProps" Target="viewProp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customXml" Target="../customXml/item40.xml"/><Relationship Id="rId45" Type="http://schemas.openxmlformats.org/officeDocument/2006/relationships/slide" Target="slides/slide1.xml"/><Relationship Id="rId53" Type="http://schemas.openxmlformats.org/officeDocument/2006/relationships/slide" Target="slides/slide9.xml"/><Relationship Id="rId58" Type="http://schemas.openxmlformats.org/officeDocument/2006/relationships/slide" Target="slides/slide14.xml"/><Relationship Id="rId5" Type="http://schemas.openxmlformats.org/officeDocument/2006/relationships/customXml" Target="../customXml/item5.xml"/><Relationship Id="rId61" Type="http://schemas.openxmlformats.org/officeDocument/2006/relationships/handoutMaster" Target="handoutMasters/handoutMaster1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customXml" Target="../customXml/item43.xml"/><Relationship Id="rId48" Type="http://schemas.openxmlformats.org/officeDocument/2006/relationships/slide" Target="slides/slide4.xml"/><Relationship Id="rId56" Type="http://schemas.openxmlformats.org/officeDocument/2006/relationships/slide" Target="slides/slide12.xml"/><Relationship Id="rId64" Type="http://schemas.openxmlformats.org/officeDocument/2006/relationships/theme" Target="theme/theme1.xml"/><Relationship Id="rId8" Type="http://schemas.openxmlformats.org/officeDocument/2006/relationships/customXml" Target="../customXml/item8.xml"/><Relationship Id="rId51" Type="http://schemas.openxmlformats.org/officeDocument/2006/relationships/slide" Target="slides/slide7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slide" Target="slides/slide2.xml"/><Relationship Id="rId59" Type="http://schemas.openxmlformats.org/officeDocument/2006/relationships/slide" Target="slides/slide15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slide" Target="slides/slide1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slide" Target="slides/slide5.xml"/><Relationship Id="rId57" Type="http://schemas.openxmlformats.org/officeDocument/2006/relationships/slide" Target="slides/slide13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slideMaster" Target="slideMasters/slideMaster1.xml"/><Relationship Id="rId52" Type="http://schemas.openxmlformats.org/officeDocument/2006/relationships/slide" Target="slides/slide8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9375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3496-9CCF-4E10-A1B2-798E5375ADD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96425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9375" y="9496425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6DD9A-A43A-41ED-8848-702FCEE4E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3839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10" y="1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/>
          <a:lstStyle>
            <a:lvl1pPr algn="r">
              <a:defRPr sz="1200"/>
            </a:lvl1pPr>
          </a:lstStyle>
          <a:p>
            <a:fld id="{720A30E4-E1AE-470C-8E29-5A7519362AA7}" type="datetimeFigureOut">
              <a:rPr lang="ko-KR" altLang="en-US" smtClean="0"/>
              <a:pPr/>
              <a:t>2026-05-19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9300"/>
            <a:ext cx="5414962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7" rIns="93936" bIns="4696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5" y="4749089"/>
            <a:ext cx="5492750" cy="4499133"/>
          </a:xfrm>
          <a:prstGeom prst="rect">
            <a:avLst/>
          </a:prstGeom>
        </p:spPr>
        <p:txBody>
          <a:bodyPr vert="horz" lIns="93936" tIns="46967" rIns="93936" bIns="4696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96438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10" y="9496438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 anchor="b"/>
          <a:lstStyle>
            <a:lvl1pPr algn="r">
              <a:defRPr sz="1200"/>
            </a:lvl1pPr>
          </a:lstStyle>
          <a:p>
            <a:fld id="{8674D502-52B9-4916-8B90-BE2CAB74184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998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2814365" y="6356388"/>
            <a:ext cx="5573647" cy="4539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820652" y="1726750"/>
            <a:ext cx="6264696" cy="1712312"/>
          </a:xfrm>
        </p:spPr>
        <p:txBody>
          <a:bodyPr>
            <a:normAutofit/>
          </a:bodyPr>
          <a:lstStyle>
            <a:lvl1pPr algn="ctr" latinLnBrk="0">
              <a:defRPr sz="2800"/>
            </a:lvl1pPr>
          </a:lstStyle>
          <a:p>
            <a:r>
              <a:rPr lang="ko-KR" altLang="en-US" dirty="0"/>
              <a:t>문서제목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663227" y="3933056"/>
            <a:ext cx="4579546" cy="478904"/>
          </a:xfrm>
        </p:spPr>
        <p:txBody>
          <a:bodyPr anchor="ctr">
            <a:noAutofit/>
          </a:bodyPr>
          <a:lstStyle>
            <a:lvl1pPr marL="0" indent="0" algn="ctr" latinLnBrk="0"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문서 종류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1517989" y="1700808"/>
            <a:ext cx="6870023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1517989" y="3465004"/>
            <a:ext cx="6870023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2662628" y="4772000"/>
            <a:ext cx="4580212" cy="360000"/>
          </a:xfrm>
        </p:spPr>
        <p:txBody>
          <a:bodyPr vert="horz" lIns="91440" tIns="45720" rIns="91440" bIns="45720" rtlCol="0" anchor="ctr">
            <a:noAutofit/>
          </a:bodyPr>
          <a:lstStyle>
            <a:lvl1pPr algn="ctr" latinLnBrk="0">
              <a:defRPr lang="ko-KR" altLang="en-US" sz="1800" baseline="0" dirty="0" smtClean="0"/>
            </a:lvl1pPr>
          </a:lstStyle>
          <a:p>
            <a:pPr lvl="0" algn="ctr"/>
            <a:r>
              <a:rPr lang="ko-KR" altLang="en-US" dirty="0"/>
              <a:t>날짜 입력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Dec, 2014)</a:t>
            </a: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5652000"/>
            <a:ext cx="9912250" cy="1231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78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(가이드라인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80682" y="404664"/>
            <a:ext cx="7956868" cy="360511"/>
          </a:xfrm>
        </p:spPr>
        <p:txBody>
          <a:bodyPr tIns="0" bIns="0">
            <a:normAutofit/>
          </a:bodyPr>
          <a:lstStyle>
            <a:lvl1pPr marL="0" indent="0" algn="l" latinLnBrk="0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(14pt, </a:t>
            </a:r>
            <a:r>
              <a:rPr lang="ko-KR" altLang="en-US" dirty="0" err="1"/>
              <a:t>맑은고딕</a:t>
            </a:r>
            <a:r>
              <a:rPr lang="en-US" altLang="ko-KR" dirty="0"/>
              <a:t>, Bold)</a:t>
            </a:r>
            <a:endParaRPr lang="ko-KR" altLang="en-US" dirty="0"/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381000" y="765175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dirty="0">
                <a:latin typeface="+mj-lt"/>
              </a:rPr>
              <a:t>현황분석보고서</a:t>
            </a:r>
          </a:p>
        </p:txBody>
      </p:sp>
    </p:spTree>
    <p:extLst>
      <p:ext uri="{BB962C8B-B14F-4D97-AF65-F5344CB8AC3E}">
        <p14:creationId xmlns:p14="http://schemas.microsoft.com/office/powerpoint/2010/main" val="130936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6" name="제목 1"/>
          <p:cNvSpPr>
            <a:spLocks noGrp="1"/>
          </p:cNvSpPr>
          <p:nvPr>
            <p:ph type="title" hasCustomPrompt="1"/>
          </p:nvPr>
        </p:nvSpPr>
        <p:spPr>
          <a:xfrm>
            <a:off x="380682" y="404664"/>
            <a:ext cx="7956868" cy="360511"/>
          </a:xfrm>
        </p:spPr>
        <p:txBody>
          <a:bodyPr tIns="0" bIns="0">
            <a:normAutofit/>
          </a:bodyPr>
          <a:lstStyle>
            <a:lvl1pPr marL="0" indent="0" algn="l" latinLnBrk="0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(14pt, </a:t>
            </a:r>
            <a:r>
              <a:rPr lang="ko-KR" altLang="en-US" dirty="0" err="1"/>
              <a:t>맑은고딕</a:t>
            </a:r>
            <a:r>
              <a:rPr lang="en-US" altLang="ko-KR" dirty="0"/>
              <a:t>, Bold)</a:t>
            </a:r>
            <a:endParaRPr lang="ko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81000" y="765175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dirty="0">
                <a:latin typeface="+mj-lt"/>
              </a:rPr>
              <a:t>현황분석보고서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381000" y="908720"/>
            <a:ext cx="9144000" cy="5472608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46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B6BC59-2C83-4408-BD79-36207CC543A0}"/>
              </a:ext>
            </a:extLst>
          </p:cNvPr>
          <p:cNvSpPr/>
          <p:nvPr userDrawn="1"/>
        </p:nvSpPr>
        <p:spPr bwMode="auto">
          <a:xfrm>
            <a:off x="231290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메뉴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0EAEAF-D495-4687-BB0E-616FE5A2FEF2}"/>
              </a:ext>
            </a:extLst>
          </p:cNvPr>
          <p:cNvSpPr/>
          <p:nvPr userDrawn="1"/>
        </p:nvSpPr>
        <p:spPr bwMode="auto">
          <a:xfrm>
            <a:off x="231290" y="809116"/>
            <a:ext cx="9469052" cy="557221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9F74FD-CD01-4D4D-8961-04C8864A4C81}"/>
              </a:ext>
            </a:extLst>
          </p:cNvPr>
          <p:cNvSpPr/>
          <p:nvPr userDrawn="1"/>
        </p:nvSpPr>
        <p:spPr bwMode="auto">
          <a:xfrm>
            <a:off x="231290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화면정의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2E2749-310A-4EF0-AC1F-A2D6D568459E}"/>
              </a:ext>
            </a:extLst>
          </p:cNvPr>
          <p:cNvSpPr/>
          <p:nvPr userDrawn="1"/>
        </p:nvSpPr>
        <p:spPr bwMode="auto">
          <a:xfrm>
            <a:off x="907565" y="450341"/>
            <a:ext cx="1250950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lIns="36000" rIns="36000" anchor="ctr"/>
          <a:lstStyle/>
          <a:p>
            <a:pPr algn="ctr"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613009-8FAC-4E8F-BE7A-63D77E027417}"/>
              </a:ext>
            </a:extLst>
          </p:cNvPr>
          <p:cNvSpPr/>
          <p:nvPr userDrawn="1"/>
        </p:nvSpPr>
        <p:spPr bwMode="auto">
          <a:xfrm>
            <a:off x="907565" y="629728"/>
            <a:ext cx="3959225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F2FBB6-CEA0-4641-860D-2AB54E94DDBC}"/>
              </a:ext>
            </a:extLst>
          </p:cNvPr>
          <p:cNvSpPr/>
          <p:nvPr userDrawn="1"/>
        </p:nvSpPr>
        <p:spPr bwMode="auto">
          <a:xfrm>
            <a:off x="2614128" y="450341"/>
            <a:ext cx="2149475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CF20A9-4EB9-42F6-9E81-46683C50432A}"/>
              </a:ext>
            </a:extLst>
          </p:cNvPr>
          <p:cNvSpPr/>
          <p:nvPr userDrawn="1"/>
        </p:nvSpPr>
        <p:spPr bwMode="auto">
          <a:xfrm>
            <a:off x="4749315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화면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913CC7-8D81-406D-976D-192F6C503F34}"/>
              </a:ext>
            </a:extLst>
          </p:cNvPr>
          <p:cNvSpPr/>
          <p:nvPr userDrawn="1"/>
        </p:nvSpPr>
        <p:spPr bwMode="auto">
          <a:xfrm>
            <a:off x="4749315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화면경로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DD9712-0649-4A24-92DC-E125BB1BF536}"/>
              </a:ext>
            </a:extLst>
          </p:cNvPr>
          <p:cNvSpPr/>
          <p:nvPr userDrawn="1"/>
        </p:nvSpPr>
        <p:spPr bwMode="auto">
          <a:xfrm>
            <a:off x="5420828" y="450341"/>
            <a:ext cx="1087437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BD032C-A64F-4BEB-B2AE-B6D76854FC6C}"/>
              </a:ext>
            </a:extLst>
          </p:cNvPr>
          <p:cNvSpPr/>
          <p:nvPr userDrawn="1"/>
        </p:nvSpPr>
        <p:spPr bwMode="auto">
          <a:xfrm>
            <a:off x="5420828" y="629728"/>
            <a:ext cx="4279514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96D99F-9C8E-4B34-8AC9-D0F7128A67F5}"/>
              </a:ext>
            </a:extLst>
          </p:cNvPr>
          <p:cNvSpPr/>
          <p:nvPr userDrawn="1"/>
        </p:nvSpPr>
        <p:spPr bwMode="auto">
          <a:xfrm>
            <a:off x="7081353" y="450341"/>
            <a:ext cx="2618989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985B25-8968-4AE1-908B-3DA6F86BD7CA}"/>
              </a:ext>
            </a:extLst>
          </p:cNvPr>
          <p:cNvSpPr/>
          <p:nvPr userDrawn="1"/>
        </p:nvSpPr>
        <p:spPr bwMode="auto">
          <a:xfrm>
            <a:off x="2161277" y="450341"/>
            <a:ext cx="673100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8E100C-45F9-4FD7-BC47-FC2F57EA9EA5}"/>
              </a:ext>
            </a:extLst>
          </p:cNvPr>
          <p:cNvSpPr/>
          <p:nvPr userDrawn="1"/>
        </p:nvSpPr>
        <p:spPr bwMode="auto">
          <a:xfrm>
            <a:off x="6405078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기능명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128464" y="116632"/>
            <a:ext cx="288032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dirty="0">
                <a:latin typeface="+mj-lt"/>
              </a:rPr>
              <a:t>소방출동 데이터 기반 </a:t>
            </a:r>
            <a:r>
              <a:rPr lang="en-US" altLang="ko-KR" sz="1200" b="1" dirty="0">
                <a:latin typeface="+mj-lt"/>
              </a:rPr>
              <a:t>AI</a:t>
            </a:r>
            <a:r>
              <a:rPr lang="ko-KR" altLang="en-US" sz="1200" b="1" dirty="0" err="1">
                <a:latin typeface="+mj-lt"/>
              </a:rPr>
              <a:t>빅데이터</a:t>
            </a:r>
            <a:r>
              <a:rPr lang="ko-KR" altLang="en-US" sz="1200" b="1" dirty="0">
                <a:latin typeface="+mj-lt"/>
              </a:rPr>
              <a:t> 분석시스템 구축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현황분석보고서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739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B6BC59-2C83-4408-BD79-36207CC543A0}"/>
              </a:ext>
            </a:extLst>
          </p:cNvPr>
          <p:cNvSpPr/>
          <p:nvPr userDrawn="1"/>
        </p:nvSpPr>
        <p:spPr bwMode="auto">
          <a:xfrm>
            <a:off x="231290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메뉴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0EAEAF-D495-4687-BB0E-616FE5A2FEF2}"/>
              </a:ext>
            </a:extLst>
          </p:cNvPr>
          <p:cNvSpPr/>
          <p:nvPr userDrawn="1"/>
        </p:nvSpPr>
        <p:spPr bwMode="auto">
          <a:xfrm>
            <a:off x="231290" y="809116"/>
            <a:ext cx="9469052" cy="557221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9F74FD-CD01-4D4D-8961-04C8864A4C81}"/>
              </a:ext>
            </a:extLst>
          </p:cNvPr>
          <p:cNvSpPr/>
          <p:nvPr userDrawn="1"/>
        </p:nvSpPr>
        <p:spPr bwMode="auto">
          <a:xfrm>
            <a:off x="231290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화면정의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2E2749-310A-4EF0-AC1F-A2D6D568459E}"/>
              </a:ext>
            </a:extLst>
          </p:cNvPr>
          <p:cNvSpPr/>
          <p:nvPr userDrawn="1"/>
        </p:nvSpPr>
        <p:spPr bwMode="auto">
          <a:xfrm>
            <a:off x="907565" y="450341"/>
            <a:ext cx="1250950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lIns="36000" rIns="36000" anchor="ctr"/>
          <a:lstStyle/>
          <a:p>
            <a:pPr algn="ctr"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613009-8FAC-4E8F-BE7A-63D77E027417}"/>
              </a:ext>
            </a:extLst>
          </p:cNvPr>
          <p:cNvSpPr/>
          <p:nvPr userDrawn="1"/>
        </p:nvSpPr>
        <p:spPr bwMode="auto">
          <a:xfrm>
            <a:off x="907565" y="629728"/>
            <a:ext cx="3959225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6F2FBB6-CEA0-4641-860D-2AB54E94DDBC}"/>
              </a:ext>
            </a:extLst>
          </p:cNvPr>
          <p:cNvSpPr/>
          <p:nvPr userDrawn="1"/>
        </p:nvSpPr>
        <p:spPr bwMode="auto">
          <a:xfrm>
            <a:off x="2614128" y="450341"/>
            <a:ext cx="2149475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CF20A9-4EB9-42F6-9E81-46683C50432A}"/>
              </a:ext>
            </a:extLst>
          </p:cNvPr>
          <p:cNvSpPr/>
          <p:nvPr userDrawn="1"/>
        </p:nvSpPr>
        <p:spPr bwMode="auto">
          <a:xfrm>
            <a:off x="4749315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화면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913CC7-8D81-406D-976D-192F6C503F34}"/>
              </a:ext>
            </a:extLst>
          </p:cNvPr>
          <p:cNvSpPr/>
          <p:nvPr userDrawn="1"/>
        </p:nvSpPr>
        <p:spPr bwMode="auto">
          <a:xfrm>
            <a:off x="4749315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화면경로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DD9712-0649-4A24-92DC-E125BB1BF536}"/>
              </a:ext>
            </a:extLst>
          </p:cNvPr>
          <p:cNvSpPr/>
          <p:nvPr userDrawn="1"/>
        </p:nvSpPr>
        <p:spPr bwMode="auto">
          <a:xfrm>
            <a:off x="5420828" y="450341"/>
            <a:ext cx="1087437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BD032C-A64F-4BEB-B2AE-B6D76854FC6C}"/>
              </a:ext>
            </a:extLst>
          </p:cNvPr>
          <p:cNvSpPr/>
          <p:nvPr userDrawn="1"/>
        </p:nvSpPr>
        <p:spPr bwMode="auto">
          <a:xfrm>
            <a:off x="5420828" y="629728"/>
            <a:ext cx="4279514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96D99F-9C8E-4B34-8AC9-D0F7128A67F5}"/>
              </a:ext>
            </a:extLst>
          </p:cNvPr>
          <p:cNvSpPr/>
          <p:nvPr userDrawn="1"/>
        </p:nvSpPr>
        <p:spPr bwMode="auto">
          <a:xfrm>
            <a:off x="7081353" y="450341"/>
            <a:ext cx="2618989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985B25-8968-4AE1-908B-3DA6F86BD7CA}"/>
              </a:ext>
            </a:extLst>
          </p:cNvPr>
          <p:cNvSpPr/>
          <p:nvPr userDrawn="1"/>
        </p:nvSpPr>
        <p:spPr bwMode="auto">
          <a:xfrm>
            <a:off x="2161277" y="450341"/>
            <a:ext cx="673100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8E100C-45F9-4FD7-BC47-FC2F57EA9EA5}"/>
              </a:ext>
            </a:extLst>
          </p:cNvPr>
          <p:cNvSpPr/>
          <p:nvPr userDrawn="1"/>
        </p:nvSpPr>
        <p:spPr bwMode="auto">
          <a:xfrm>
            <a:off x="6405078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기능명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C847E5-EC6D-4B5F-B2FA-6FD484D5C5DD}"/>
              </a:ext>
            </a:extLst>
          </p:cNvPr>
          <p:cNvSpPr/>
          <p:nvPr userDrawn="1"/>
        </p:nvSpPr>
        <p:spPr bwMode="auto">
          <a:xfrm>
            <a:off x="6928034" y="915565"/>
            <a:ext cx="2772333" cy="546576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40598F-EDDC-4D9A-B22F-83F20FF7C1E5}"/>
              </a:ext>
            </a:extLst>
          </p:cNvPr>
          <p:cNvSpPr/>
          <p:nvPr userDrawn="1"/>
        </p:nvSpPr>
        <p:spPr bwMode="auto">
          <a:xfrm>
            <a:off x="6928035" y="816347"/>
            <a:ext cx="2772308" cy="2524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화면설명</a:t>
            </a:r>
            <a:endParaRPr kumimoji="0" lang="ko-KR" altLang="en-US" sz="900" dirty="0"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F93967-A10F-4701-A74E-D0B11B59422B}"/>
              </a:ext>
            </a:extLst>
          </p:cNvPr>
          <p:cNvSpPr/>
          <p:nvPr userDrawn="1"/>
        </p:nvSpPr>
        <p:spPr bwMode="auto">
          <a:xfrm>
            <a:off x="6928667" y="4914837"/>
            <a:ext cx="2776819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테이블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C6861E-6812-47AF-B61D-EF042336F9DD}"/>
              </a:ext>
            </a:extLst>
          </p:cNvPr>
          <p:cNvSpPr/>
          <p:nvPr userDrawn="1"/>
        </p:nvSpPr>
        <p:spPr bwMode="auto">
          <a:xfrm>
            <a:off x="6926477" y="5779566"/>
            <a:ext cx="2776819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보안요구사항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현황분석보고서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952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1784648" y="3044280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4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Documents</a:t>
            </a:r>
            <a:endParaRPr lang="ko-KR" altLang="en-US" sz="4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571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49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88223" y="115888"/>
            <a:ext cx="8915400" cy="491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692150"/>
            <a:ext cx="9144000" cy="53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ko-KR" altLang="en-US" dirty="0"/>
          </a:p>
        </p:txBody>
      </p:sp>
      <p:sp>
        <p:nvSpPr>
          <p:cNvPr id="5" name="슬라이드 번호 개체 틀 4"/>
          <p:cNvSpPr txBox="1">
            <a:spLocks/>
          </p:cNvSpPr>
          <p:nvPr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572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72" r:id="rId3"/>
    <p:sldLayoutId id="2147483670" r:id="rId4"/>
    <p:sldLayoutId id="2147483671" r:id="rId5"/>
    <p:sldLayoutId id="2147483669" r:id="rId6"/>
    <p:sldLayoutId id="2147483673" r:id="rId7"/>
  </p:sldLayoutIdLst>
  <p:txStyles>
    <p:titleStyle>
      <a:lvl1pPr algn="l" defTabSz="914400" rtl="0" eaLnBrk="1" latinLnBrk="1" hangingPunct="1">
        <a:spcBef>
          <a:spcPct val="0"/>
        </a:spcBef>
        <a:buNone/>
        <a:defRPr sz="2000" b="0" kern="1200" baseline="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itchFamily="34" charset="0"/>
        <a:buNone/>
        <a:defRPr sz="1400" b="1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108FA6C9-1231-2422-CAA6-E14293AACD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4251B0-8B5E-448E-6FFA-938071BED7D3}"/>
              </a:ext>
            </a:extLst>
          </p:cNvPr>
          <p:cNvSpPr txBox="1"/>
          <p:nvPr/>
        </p:nvSpPr>
        <p:spPr>
          <a:xfrm>
            <a:off x="611498" y="1646880"/>
            <a:ext cx="6325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5083C4"/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소방출동 데이터 기반</a:t>
            </a:r>
            <a:endParaRPr lang="ko-KR" altLang="en-US" sz="3600" kern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5083C4"/>
              </a:soli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A8175-8C03-E30A-8297-086F058592A2}"/>
              </a:ext>
            </a:extLst>
          </p:cNvPr>
          <p:cNvSpPr txBox="1"/>
          <p:nvPr/>
        </p:nvSpPr>
        <p:spPr>
          <a:xfrm>
            <a:off x="580219" y="2229031"/>
            <a:ext cx="5834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57646">
              <a:defRPr/>
            </a:pPr>
            <a:r>
              <a:rPr lang="en-US" altLang="ko-KR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AI</a:t>
            </a:r>
            <a:r>
              <a:rPr lang="ko-KR" altLang="en-US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빅데이터</a:t>
            </a:r>
          </a:p>
          <a:p>
            <a:pPr defTabSz="957646">
              <a:defRPr/>
            </a:pPr>
            <a:r>
              <a:rPr lang="ko-KR" altLang="en-US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분석시스템 구축</a:t>
            </a:r>
            <a:endParaRPr lang="ko-KR" altLang="en-US" sz="5500" kern="0" spc="-15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gradFill>
                <a:gsLst>
                  <a:gs pos="100000">
                    <a:srgbClr val="038465"/>
                  </a:gs>
                  <a:gs pos="0">
                    <a:srgbClr val="5083C4"/>
                  </a:gs>
                </a:gsLst>
                <a:lin ang="0" scaled="0"/>
              </a:gra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15" y="1021443"/>
            <a:ext cx="1940154" cy="359846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B1661F-49B1-981C-04F7-63882B4EE377}"/>
              </a:ext>
            </a:extLst>
          </p:cNvPr>
          <p:cNvGrpSpPr/>
          <p:nvPr/>
        </p:nvGrpSpPr>
        <p:grpSpPr>
          <a:xfrm>
            <a:off x="384759" y="-581298"/>
            <a:ext cx="2834692" cy="346307"/>
            <a:chOff x="384758" y="-1882970"/>
            <a:chExt cx="7990471" cy="976176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C980DC7-7B8E-F2B4-A987-49EF22279FEE}"/>
                </a:ext>
              </a:extLst>
            </p:cNvPr>
            <p:cNvGrpSpPr/>
            <p:nvPr/>
          </p:nvGrpSpPr>
          <p:grpSpPr>
            <a:xfrm>
              <a:off x="404422" y="-1246285"/>
              <a:ext cx="7970807" cy="339491"/>
              <a:chOff x="-7470475" y="-1017917"/>
              <a:chExt cx="7970807" cy="1380226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ACF0762-C3C7-1214-035A-C691EA84C803}"/>
                  </a:ext>
                </a:extLst>
              </p:cNvPr>
              <p:cNvSpPr/>
              <p:nvPr/>
            </p:nvSpPr>
            <p:spPr>
              <a:xfrm>
                <a:off x="-7470475" y="-1017917"/>
                <a:ext cx="2605177" cy="1380226"/>
              </a:xfrm>
              <a:prstGeom prst="rect">
                <a:avLst/>
              </a:prstGeom>
              <a:solidFill>
                <a:srgbClr val="822E0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47BC2763-4C51-5EA0-B45E-30B2C964D9B9}"/>
                  </a:ext>
                </a:extLst>
              </p:cNvPr>
              <p:cNvSpPr/>
              <p:nvPr/>
            </p:nvSpPr>
            <p:spPr>
              <a:xfrm>
                <a:off x="-3743863" y="-1017917"/>
                <a:ext cx="2605177" cy="1380226"/>
              </a:xfrm>
              <a:prstGeom prst="rect">
                <a:avLst/>
              </a:prstGeom>
              <a:solidFill>
                <a:srgbClr val="2361B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5A4F2015-54CA-D413-9FD1-BF20721E6D7F}"/>
                  </a:ext>
                </a:extLst>
              </p:cNvPr>
              <p:cNvSpPr/>
              <p:nvPr/>
            </p:nvSpPr>
            <p:spPr>
              <a:xfrm>
                <a:off x="-2104845" y="-1017917"/>
                <a:ext cx="2605177" cy="1380226"/>
              </a:xfrm>
              <a:prstGeom prst="rect">
                <a:avLst/>
              </a:prstGeom>
              <a:solidFill>
                <a:srgbClr val="5083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19CDE4B3-4081-0D74-AD57-C7C04BDB473A}"/>
                  </a:ext>
                </a:extLst>
              </p:cNvPr>
              <p:cNvSpPr/>
              <p:nvPr/>
            </p:nvSpPr>
            <p:spPr>
              <a:xfrm>
                <a:off x="-6072996" y="-1017917"/>
                <a:ext cx="2605177" cy="1380226"/>
              </a:xfrm>
              <a:prstGeom prst="rect">
                <a:avLst/>
              </a:prstGeom>
              <a:solidFill>
                <a:srgbClr val="DD62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74A4440B-6C83-B821-3EF0-0D3E680CBD86}"/>
                </a:ext>
              </a:extLst>
            </p:cNvPr>
            <p:cNvGrpSpPr/>
            <p:nvPr/>
          </p:nvGrpSpPr>
          <p:grpSpPr>
            <a:xfrm>
              <a:off x="384758" y="-1882970"/>
              <a:ext cx="5000909" cy="425569"/>
              <a:chOff x="-7470475" y="-2863970"/>
              <a:chExt cx="5000909" cy="1380226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1EEBEC4F-F204-D3E6-A524-D488C6A2416E}"/>
                  </a:ext>
                </a:extLst>
              </p:cNvPr>
              <p:cNvSpPr/>
              <p:nvPr/>
            </p:nvSpPr>
            <p:spPr>
              <a:xfrm>
                <a:off x="-7470475" y="-2863970"/>
                <a:ext cx="2605177" cy="1380226"/>
              </a:xfrm>
              <a:prstGeom prst="rect">
                <a:avLst/>
              </a:prstGeom>
              <a:solidFill>
                <a:srgbClr val="07B4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DD95C25-EE1A-ECB5-4E78-F8425AD079DA}"/>
                  </a:ext>
                </a:extLst>
              </p:cNvPr>
              <p:cNvSpPr/>
              <p:nvPr/>
            </p:nvSpPr>
            <p:spPr>
              <a:xfrm>
                <a:off x="-6417125" y="-2863970"/>
                <a:ext cx="2605177" cy="1380226"/>
              </a:xfrm>
              <a:prstGeom prst="rect">
                <a:avLst/>
              </a:prstGeom>
              <a:solidFill>
                <a:srgbClr val="03846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F2F5954D-1A06-D613-3AC6-A234FFBB2AAE}"/>
                  </a:ext>
                </a:extLst>
              </p:cNvPr>
              <p:cNvSpPr/>
              <p:nvPr/>
            </p:nvSpPr>
            <p:spPr>
              <a:xfrm>
                <a:off x="-5074743" y="-2863970"/>
                <a:ext cx="2605177" cy="1380226"/>
              </a:xfrm>
              <a:prstGeom prst="rect">
                <a:avLst/>
              </a:prstGeom>
              <a:solidFill>
                <a:srgbClr val="0239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/>
        </p:nvGrpSpPr>
        <p:grpSpPr>
          <a:xfrm>
            <a:off x="807628" y="5671589"/>
            <a:ext cx="2433466" cy="307777"/>
            <a:chOff x="1139534" y="5703227"/>
            <a:chExt cx="2433466" cy="30777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  <p:sp>
        <p:nvSpPr>
          <p:cNvPr id="6" name="직사각형 5"/>
          <p:cNvSpPr/>
          <p:nvPr/>
        </p:nvSpPr>
        <p:spPr>
          <a:xfrm>
            <a:off x="560219" y="4139788"/>
            <a:ext cx="2465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>
                <a:solidFill>
                  <a:schemeClr val="bg1">
                    <a:lumMod val="50000"/>
                  </a:schemeClr>
                </a:solidFill>
              </a:rPr>
              <a:t>비정형 데이터</a:t>
            </a:r>
            <a:endParaRPr lang="ko-KR" altLang="en-US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10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320983"/>
              </p:ext>
            </p:extLst>
          </p:nvPr>
        </p:nvGraphicFramePr>
        <p:xfrm>
          <a:off x="339064" y="1558280"/>
          <a:ext cx="924738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93687705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76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 내용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2026-05-17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최초 작성</a:t>
                      </a:r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송인창</a:t>
                      </a:r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949286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58992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331183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896925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894517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212104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65234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424525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04874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64246" y="940377"/>
            <a:ext cx="9391403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>
                <a:latin typeface="+mn-ea"/>
              </a:rPr>
              <a:t>문서 제 </a:t>
            </a:r>
            <a:r>
              <a:rPr lang="en-US" altLang="ko-KR" b="1">
                <a:latin typeface="+mn-ea"/>
              </a:rPr>
              <a:t>· </a:t>
            </a:r>
            <a:r>
              <a:rPr lang="ko-KR" altLang="en-US" b="1">
                <a:latin typeface="+mn-ea"/>
              </a:rPr>
              <a:t>개정 이력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910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b="1"/>
              <a:t>요구사항 수립</a:t>
            </a:r>
            <a:endParaRPr lang="ko-KR" altLang="en-US" b="1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E2F9244-1A08-4FC7-8AFE-C8F29F401603}"/>
              </a:ext>
            </a:extLst>
          </p:cNvPr>
          <p:cNvCxnSpPr>
            <a:cxnSpLocks/>
          </p:cNvCxnSpPr>
          <p:nvPr/>
        </p:nvCxnSpPr>
        <p:spPr>
          <a:xfrm>
            <a:off x="5529064" y="925748"/>
            <a:ext cx="3994220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299F56E-A1C8-082F-BFCF-B3CAD16E65E4}"/>
              </a:ext>
            </a:extLst>
          </p:cNvPr>
          <p:cNvCxnSpPr>
            <a:cxnSpLocks/>
          </p:cNvCxnSpPr>
          <p:nvPr/>
        </p:nvCxnSpPr>
        <p:spPr>
          <a:xfrm>
            <a:off x="5529064" y="1412776"/>
            <a:ext cx="3994220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24B93B-A22A-62C9-613D-EEE348403658}"/>
              </a:ext>
            </a:extLst>
          </p:cNvPr>
          <p:cNvSpPr/>
          <p:nvPr/>
        </p:nvSpPr>
        <p:spPr>
          <a:xfrm>
            <a:off x="5821907" y="1015373"/>
            <a:ext cx="340853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defTabSz="742950" latinLnBrk="0">
              <a:defRPr/>
            </a:pPr>
            <a:r>
              <a:rPr lang="ko-KR" altLang="en-US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기술협상 및 인터뷰 요구사항</a:t>
            </a:r>
            <a:endParaRPr lang="ko-KR" altLang="en-US" sz="1400" b="1" kern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12966"/>
              </a:solidFill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97A44ED-9C2F-8F4F-7933-5EB790E516BB}"/>
              </a:ext>
            </a:extLst>
          </p:cNvPr>
          <p:cNvCxnSpPr>
            <a:cxnSpLocks/>
          </p:cNvCxnSpPr>
          <p:nvPr/>
        </p:nvCxnSpPr>
        <p:spPr>
          <a:xfrm>
            <a:off x="1646285" y="925748"/>
            <a:ext cx="3234711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B7A3951-DA84-FAB7-9294-1427A2740FA8}"/>
              </a:ext>
            </a:extLst>
          </p:cNvPr>
          <p:cNvCxnSpPr>
            <a:cxnSpLocks/>
          </p:cNvCxnSpPr>
          <p:nvPr/>
        </p:nvCxnSpPr>
        <p:spPr>
          <a:xfrm>
            <a:off x="1646285" y="1412776"/>
            <a:ext cx="3234711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0145787-461F-D7DB-282D-7BA49DC99563}"/>
              </a:ext>
            </a:extLst>
          </p:cNvPr>
          <p:cNvSpPr/>
          <p:nvPr/>
        </p:nvSpPr>
        <p:spPr>
          <a:xfrm>
            <a:off x="1883443" y="1015373"/>
            <a:ext cx="276039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defTabSz="742950" latinLnBrk="0">
              <a:defRPr/>
            </a:pPr>
            <a:r>
              <a:rPr lang="en-US" altLang="ko-KR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RFP </a:t>
            </a:r>
            <a:r>
              <a:rPr lang="ko-KR" altLang="en-US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요구사항</a:t>
            </a:r>
            <a:endParaRPr lang="ko-KR" altLang="en-US" sz="1400" b="1" kern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12966"/>
              </a:solidFill>
              <a:latin typeface="+mn-ea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D39E983-C4E4-ECB6-E919-43548447D86B}"/>
              </a:ext>
            </a:extLst>
          </p:cNvPr>
          <p:cNvGrpSpPr/>
          <p:nvPr/>
        </p:nvGrpSpPr>
        <p:grpSpPr>
          <a:xfrm>
            <a:off x="380682" y="1585452"/>
            <a:ext cx="9142602" cy="979452"/>
            <a:chOff x="380682" y="1394039"/>
            <a:chExt cx="9142602" cy="1261169"/>
          </a:xfrm>
        </p:grpSpPr>
        <p:sp>
          <p:nvSpPr>
            <p:cNvPr id="28" name="AutoShape 10">
              <a:extLst>
                <a:ext uri="{FF2B5EF4-FFF2-40B4-BE49-F238E27FC236}">
                  <a16:creationId xmlns:a16="http://schemas.microsoft.com/office/drawing/2014/main" id="{428FB83E-D7C8-697A-EAE6-D29D3E4E4DF9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5" y="1394039"/>
              <a:ext cx="363235" cy="126116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1ED6D34-358C-257D-11C7-D1588709C2DB}"/>
                </a:ext>
              </a:extLst>
            </p:cNvPr>
            <p:cNvSpPr/>
            <p:nvPr/>
          </p:nvSpPr>
          <p:spPr>
            <a:xfrm>
              <a:off x="1646281" y="1394039"/>
              <a:ext cx="3234711" cy="126065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SFR-04: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업무 시스템 문서정보를 메타데이터로 구성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Object Storage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적재 및 문서 분류체계 협의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보고서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매뉴얼 등 내부 지식자산 수집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인덱싱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6CDAD633-7D05-18D9-5328-33BF8E123BAF}"/>
                </a:ext>
              </a:extLst>
            </p:cNvPr>
            <p:cNvSpPr/>
            <p:nvPr/>
          </p:nvSpPr>
          <p:spPr>
            <a:xfrm>
              <a:off x="5529064" y="1394039"/>
              <a:ext cx="3994220" cy="126065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PDF, DOCX,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이미지 등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OCR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기반 정보 수집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메타데이터 추출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시간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주소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위치정보 표준화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p517: Crawler/Gathering/Extraction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기반 데이터 파이프라인</a:t>
              </a:r>
            </a:p>
          </p:txBody>
        </p:sp>
        <p:sp>
          <p:nvSpPr>
            <p:cNvPr id="40" name="자유형: 도형 15">
              <a:extLst>
                <a:ext uri="{FF2B5EF4-FFF2-40B4-BE49-F238E27FC236}">
                  <a16:creationId xmlns:a16="http://schemas.microsoft.com/office/drawing/2014/main" id="{9EEE0CE2-8A8D-3CF3-918E-52CB6B694EF5}"/>
                </a:ext>
              </a:extLst>
            </p:cNvPr>
            <p:cNvSpPr/>
            <p:nvPr/>
          </p:nvSpPr>
          <p:spPr>
            <a:xfrm>
              <a:off x="380682" y="1410648"/>
              <a:ext cx="1161775" cy="1244043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문서정보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수집</a:t>
              </a:r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적재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4BF2C95-493B-4B2F-185D-95128B3BD6FF}"/>
              </a:ext>
            </a:extLst>
          </p:cNvPr>
          <p:cNvGrpSpPr/>
          <p:nvPr/>
        </p:nvGrpSpPr>
        <p:grpSpPr>
          <a:xfrm>
            <a:off x="380682" y="2785751"/>
            <a:ext cx="9142602" cy="1879439"/>
            <a:chOff x="380682" y="2891913"/>
            <a:chExt cx="9142602" cy="1624438"/>
          </a:xfrm>
        </p:grpSpPr>
        <p:sp>
          <p:nvSpPr>
            <p:cNvPr id="29" name="AutoShape 10">
              <a:extLst>
                <a:ext uri="{FF2B5EF4-FFF2-40B4-BE49-F238E27FC236}">
                  <a16:creationId xmlns:a16="http://schemas.microsoft.com/office/drawing/2014/main" id="{9DADBC72-8707-176A-7836-69B59E4A832C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6" y="2891913"/>
              <a:ext cx="363235" cy="162277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2A8F68A-23C4-40C7-95DD-21F00FBB7B4E}"/>
                </a:ext>
              </a:extLst>
            </p:cNvPr>
            <p:cNvSpPr/>
            <p:nvPr/>
          </p:nvSpPr>
          <p:spPr>
            <a:xfrm>
              <a:off x="1646281" y="2894602"/>
              <a:ext cx="3234711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SFR-05: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비정형 문서 구조화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DB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및 업무자동화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HWP/HWPX/PDF/DOC/TXT/CSV/XLS/XLSX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등 지원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Document Loader, Text Split, Chunk, Vector Embedding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정의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5D9CFB8-30CE-88BB-1376-13CAEF204A60}"/>
                </a:ext>
              </a:extLst>
            </p:cNvPr>
            <p:cNvSpPr/>
            <p:nvPr/>
          </p:nvSpPr>
          <p:spPr>
            <a:xfrm>
              <a:off x="5529064" y="2894601"/>
              <a:ext cx="3994220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p516: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원본문서 텍스트추출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분할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임베딩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/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색인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3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단계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청킹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전략이 지능형검색의 핵심 기준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서비스 목적별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Chunk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전략 및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변경분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재임베딩</a:t>
              </a:r>
              <a:endParaRPr lang="ko-KR" altLang="en-US" sz="1100" dirty="0">
                <a:latin typeface="맑은 고딕" panose="020B0503020000020004" pitchFamily="50" charset="-127"/>
              </a:endParaRPr>
            </a:p>
          </p:txBody>
        </p:sp>
        <p:sp>
          <p:nvSpPr>
            <p:cNvPr id="41" name="자유형: 도형 15">
              <a:extLst>
                <a:ext uri="{FF2B5EF4-FFF2-40B4-BE49-F238E27FC236}">
                  <a16:creationId xmlns:a16="http://schemas.microsoft.com/office/drawing/2014/main" id="{83EF9C45-A491-C0FE-2140-D5A4C4EF6EF5}"/>
                </a:ext>
              </a:extLst>
            </p:cNvPr>
            <p:cNvSpPr/>
            <p:nvPr/>
          </p:nvSpPr>
          <p:spPr>
            <a:xfrm>
              <a:off x="380682" y="2894601"/>
              <a:ext cx="1161775" cy="1620091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구조화</a:t>
              </a:r>
            </a:p>
            <a:p>
              <a:pPr algn="ctr" latinLnBrk="0"/>
              <a:r>
                <a:rPr lang="ko-KR" altLang="en-US" sz="1200" b="1" dirty="0" err="1">
                  <a:solidFill>
                    <a:srgbClr val="FFFFFF"/>
                  </a:solidFill>
                  <a:latin typeface="맑은 고딕" panose="020B0503020000020004" pitchFamily="50" charset="-127"/>
                </a:rPr>
                <a:t>전처리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12D7FDE-BA87-7561-3432-1EB3BCF1C4D0}"/>
              </a:ext>
            </a:extLst>
          </p:cNvPr>
          <p:cNvGrpSpPr/>
          <p:nvPr/>
        </p:nvGrpSpPr>
        <p:grpSpPr>
          <a:xfrm>
            <a:off x="380682" y="4886036"/>
            <a:ext cx="9142602" cy="1495292"/>
            <a:chOff x="380682" y="4755227"/>
            <a:chExt cx="9142602" cy="1626101"/>
          </a:xfrm>
        </p:grpSpPr>
        <p:sp>
          <p:nvSpPr>
            <p:cNvPr id="30" name="AutoShape 10">
              <a:extLst>
                <a:ext uri="{FF2B5EF4-FFF2-40B4-BE49-F238E27FC236}">
                  <a16:creationId xmlns:a16="http://schemas.microsoft.com/office/drawing/2014/main" id="{49266461-1205-EEE5-9961-5628A88627AE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6" y="4758549"/>
              <a:ext cx="363235" cy="162277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037D1EA-D638-0426-33EB-8FFCE60A7502}"/>
                </a:ext>
              </a:extLst>
            </p:cNvPr>
            <p:cNvSpPr/>
            <p:nvPr/>
          </p:nvSpPr>
          <p:spPr>
            <a:xfrm>
              <a:off x="1646281" y="4755228"/>
              <a:ext cx="3234711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SFR-17: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모듈형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RAG,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리랭킹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환각 최소화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SFR-18: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자연어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벡터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키워드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권한별 문서 제한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SFR-19: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문서 초안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요약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질의응답 등 업무지원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53B4E23-D8D6-CE00-15FD-34847D14BC98}"/>
                </a:ext>
              </a:extLst>
            </p:cNvPr>
            <p:cNvSpPr/>
            <p:nvPr/>
          </p:nvSpPr>
          <p:spPr>
            <a:xfrm>
              <a:off x="5529064" y="4755229"/>
              <a:ext cx="3994220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근거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스니펫을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LLM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에 제공하고 출처 표출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p517: RAG I/F,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검색엔진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Vector DB, LLM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구성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답변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+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출처 제공 및 문서 형식별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청킹전략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필요</a:t>
              </a:r>
            </a:p>
          </p:txBody>
        </p:sp>
        <p:sp>
          <p:nvSpPr>
            <p:cNvPr id="42" name="자유형: 도형 15">
              <a:extLst>
                <a:ext uri="{FF2B5EF4-FFF2-40B4-BE49-F238E27FC236}">
                  <a16:creationId xmlns:a16="http://schemas.microsoft.com/office/drawing/2014/main" id="{C9C42142-B25E-58F3-02FB-51891B99B362}"/>
                </a:ext>
              </a:extLst>
            </p:cNvPr>
            <p:cNvSpPr/>
            <p:nvPr/>
          </p:nvSpPr>
          <p:spPr>
            <a:xfrm>
              <a:off x="380682" y="4755227"/>
              <a:ext cx="1161775" cy="1626101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검색</a:t>
              </a:r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·RAG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문서활용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890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87D83-18E7-5456-6357-EBB59BAB8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1">
            <a:extLst>
              <a:ext uri="{FF2B5EF4-FFF2-40B4-BE49-F238E27FC236}">
                <a16:creationId xmlns:a16="http://schemas.microsoft.com/office/drawing/2014/main" id="{A3F1C108-49FB-1959-47B8-68E9018B8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682" y="404664"/>
            <a:ext cx="7956868" cy="360511"/>
          </a:xfrm>
        </p:spPr>
        <p:txBody>
          <a:bodyPr>
            <a:noAutofit/>
          </a:bodyPr>
          <a:lstStyle/>
          <a:p>
            <a:r>
              <a:rPr lang="en-US" altLang="ko-KR"/>
              <a:t>ISP </a:t>
            </a:r>
            <a:r>
              <a:rPr lang="ko-KR" altLang="en-US"/>
              <a:t>목표모델 내 비정형문서 위치</a:t>
            </a:r>
            <a:endParaRPr lang="ko-KR" altLang="en-US" b="1" dirty="0"/>
          </a:p>
        </p:txBody>
      </p:sp>
      <p:sp>
        <p:nvSpPr>
          <p:cNvPr id="10" name="모서리가 둥근 직사각형 35">
            <a:extLst>
              <a:ext uri="{FF2B5EF4-FFF2-40B4-BE49-F238E27FC236}">
                <a16:creationId xmlns:a16="http://schemas.microsoft.com/office/drawing/2014/main" id="{ED4B8AC6-8762-B2ED-EF54-77D60A1A4C10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비정형문서는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Data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영역의 통합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(Chunking),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벡터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분석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메타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거쳐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지능형 검색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업무지원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연결되어 활용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A9C018E-9EB6-591A-F5D6-B4E8663DF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D7ECC9-1F8B-742F-3DB6-1FCCCABDFC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89" y="897328"/>
            <a:ext cx="8611081" cy="461990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598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140A-4F87-9651-E9FD-A1E94971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585A88B-6D62-05E8-D778-873CC761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유형과 비정형 적재 필요성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E96BFE-8818-B45D-8BE3-B2B7E7967910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82" y="836712"/>
            <a:ext cx="6732558" cy="4715100"/>
          </a:xfrm>
          <a:prstGeom prst="rect">
            <a:avLst/>
          </a:prstGeom>
          <a:ln/>
        </p:spPr>
      </p:pic>
      <p:sp>
        <p:nvSpPr>
          <p:cNvPr id="5" name="모서리가 둥근 직사각형 35">
            <a:extLst>
              <a:ext uri="{FF2B5EF4-FFF2-40B4-BE49-F238E27FC236}">
                <a16:creationId xmlns:a16="http://schemas.microsoft.com/office/drawing/2014/main" id="{09E379AB-F70E-3AE6-38F5-07511DDC8EEB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비정형문서 적재는 “파일 저장”이 아니라 검색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·RAG·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 생성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위한 데이터 준비 체계임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893763" lvl="0" defTabSz="457200" latinLnBrk="0">
              <a:lnSpc>
                <a:spcPct val="130000"/>
              </a:lnSpc>
              <a:defRPr/>
            </a:pP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8D2737-A865-2530-51DE-6C28B7510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01D206B-5ACF-2205-6137-A9B7480BF629}"/>
              </a:ext>
            </a:extLst>
          </p:cNvPr>
          <p:cNvSpPr/>
          <p:nvPr/>
        </p:nvSpPr>
        <p:spPr>
          <a:xfrm>
            <a:off x="7257256" y="983146"/>
            <a:ext cx="2232248" cy="52815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정형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비정형 데이터 존재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ISP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에서는 정형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·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반정형 데이터와 함께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HWP, PDF, MP4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 비정형 파일의 존재를 제시함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비정형 데이터 처리 기능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제안발표자료에서는 비정형 데이터의 파싱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정제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저장 및 메타데이터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DB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스키마 설계를 주요 개발항목으로 제시함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내부 문서정보 수집 기능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요구사항정의서에서는 내부 문서정보 수집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Object Storage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적재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 구조화 및 전처리 자동화를 기능 요구로 정의함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4691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3040-6FB1-E159-C870-02A366FE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F6B5EBB-9E87-72CC-DD61-36C93011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요구사항정의서 기반 핵심 요구사항</a:t>
            </a:r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473B096-EB31-0ACF-715D-D14A85EAD9AB}"/>
              </a:ext>
            </a:extLst>
          </p:cNvPr>
          <p:cNvGrpSpPr/>
          <p:nvPr/>
        </p:nvGrpSpPr>
        <p:grpSpPr>
          <a:xfrm>
            <a:off x="391368" y="980728"/>
            <a:ext cx="9125216" cy="4241800"/>
            <a:chOff x="391368" y="980728"/>
            <a:chExt cx="7874000" cy="42418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DB616AA-CA5C-BE48-B64E-C6F3863650A0}"/>
                </a:ext>
              </a:extLst>
            </p:cNvPr>
            <p:cNvSpPr/>
            <p:nvPr/>
          </p:nvSpPr>
          <p:spPr>
            <a:xfrm>
              <a:off x="391368" y="980728"/>
              <a:ext cx="1460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65ECD7-4B6B-5AE4-2D0A-3FD687D50187}"/>
                </a:ext>
              </a:extLst>
            </p:cNvPr>
            <p:cNvSpPr txBox="1"/>
            <p:nvPr/>
          </p:nvSpPr>
          <p:spPr>
            <a:xfrm>
              <a:off x="518368" y="1082328"/>
              <a:ext cx="1206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요구사항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F979754-0A81-EC4B-70FC-BFA5ED307F62}"/>
                </a:ext>
              </a:extLst>
            </p:cNvPr>
            <p:cNvSpPr/>
            <p:nvPr/>
          </p:nvSpPr>
          <p:spPr>
            <a:xfrm>
              <a:off x="1851868" y="980728"/>
              <a:ext cx="3619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312E8E-1C75-8720-86D0-FEDDB8974E02}"/>
                </a:ext>
              </a:extLst>
            </p:cNvPr>
            <p:cNvSpPr txBox="1"/>
            <p:nvPr/>
          </p:nvSpPr>
          <p:spPr>
            <a:xfrm>
              <a:off x="1978868" y="1082328"/>
              <a:ext cx="3365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내용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E1CB073-806D-F601-0F85-4A8168B669BA}"/>
                </a:ext>
              </a:extLst>
            </p:cNvPr>
            <p:cNvSpPr/>
            <p:nvPr/>
          </p:nvSpPr>
          <p:spPr>
            <a:xfrm>
              <a:off x="5471368" y="980728"/>
              <a:ext cx="2794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ADC4D8-A6E4-D107-FF70-89B85ADF333D}"/>
                </a:ext>
              </a:extLst>
            </p:cNvPr>
            <p:cNvSpPr txBox="1"/>
            <p:nvPr/>
          </p:nvSpPr>
          <p:spPr>
            <a:xfrm>
              <a:off x="5598368" y="1082328"/>
              <a:ext cx="2540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적재 설계 의미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6F36ED3-8451-F30B-1EAC-15B71D825162}"/>
                </a:ext>
              </a:extLst>
            </p:cNvPr>
            <p:cNvSpPr/>
            <p:nvPr/>
          </p:nvSpPr>
          <p:spPr>
            <a:xfrm>
              <a:off x="391368" y="14887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AA86C6-FD24-6FE2-88C0-A21B68D2635D}"/>
                </a:ext>
              </a:extLst>
            </p:cNvPr>
            <p:cNvSpPr txBox="1"/>
            <p:nvPr/>
          </p:nvSpPr>
          <p:spPr>
            <a:xfrm>
              <a:off x="480268" y="15776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 dirty="0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SFR-004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9CF727B-EF39-8082-671C-4C33BD92634A}"/>
                </a:ext>
              </a:extLst>
            </p:cNvPr>
            <p:cNvSpPr/>
            <p:nvPr/>
          </p:nvSpPr>
          <p:spPr>
            <a:xfrm>
              <a:off x="1851868" y="14887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35195F-8994-C5AF-7DB9-17FA849821C4}"/>
                </a:ext>
              </a:extLst>
            </p:cNvPr>
            <p:cNvSpPr txBox="1"/>
            <p:nvPr/>
          </p:nvSpPr>
          <p:spPr>
            <a:xfrm>
              <a:off x="1940768" y="15776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보고서 등 문서정보 수집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 구성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Object Storage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59A89DD-77E2-B469-C5BB-664DC0346EBA}"/>
                </a:ext>
              </a:extLst>
            </p:cNvPr>
            <p:cNvSpPr/>
            <p:nvPr/>
          </p:nvSpPr>
          <p:spPr>
            <a:xfrm>
              <a:off x="5471368" y="14887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0A04326-C898-052D-7A9F-F102AA801F9E}"/>
                </a:ext>
              </a:extLst>
            </p:cNvPr>
            <p:cNvSpPr txBox="1"/>
            <p:nvPr/>
          </p:nvSpPr>
          <p:spPr>
            <a:xfrm>
              <a:off x="5560268" y="15776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문서와 메타데이터 저장 구조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DAC1AB5-08CC-6A9D-8B40-74FBDEEF4F6E}"/>
                </a:ext>
              </a:extLst>
            </p:cNvPr>
            <p:cNvSpPr/>
            <p:nvPr/>
          </p:nvSpPr>
          <p:spPr>
            <a:xfrm>
              <a:off x="391368" y="24285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136DA6-FEE0-0D01-5220-F9252CB06696}"/>
                </a:ext>
              </a:extLst>
            </p:cNvPr>
            <p:cNvSpPr txBox="1"/>
            <p:nvPr/>
          </p:nvSpPr>
          <p:spPr>
            <a:xfrm>
              <a:off x="480268" y="25174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SFR-005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7BC1380-41A0-1F57-17D5-71DF02CC929B}"/>
                </a:ext>
              </a:extLst>
            </p:cNvPr>
            <p:cNvSpPr/>
            <p:nvPr/>
          </p:nvSpPr>
          <p:spPr>
            <a:xfrm>
              <a:off x="1851868" y="24285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52C338-50C4-85BF-44F0-8298D7EA1B35}"/>
                </a:ext>
              </a:extLst>
            </p:cNvPr>
            <p:cNvSpPr txBox="1"/>
            <p:nvPr/>
          </p:nvSpPr>
          <p:spPr>
            <a:xfrm>
              <a:off x="1940768" y="25174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비정형 문서 구조화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Split, Document Loader,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청킹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임베딩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Vector DB, Retriever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11F4AEE-2DFD-DEC7-84B6-C8CC58557597}"/>
                </a:ext>
              </a:extLst>
            </p:cNvPr>
            <p:cNvSpPr/>
            <p:nvPr/>
          </p:nvSpPr>
          <p:spPr>
            <a:xfrm>
              <a:off x="5471368" y="24285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3D5611-9224-8E58-001A-9B3E6C1B4D34}"/>
                </a:ext>
              </a:extLst>
            </p:cNvPr>
            <p:cNvSpPr txBox="1"/>
            <p:nvPr/>
          </p:nvSpPr>
          <p:spPr>
            <a:xfrm>
              <a:off x="5560268" y="25174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적재 파이프라인의 중심 요구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EA5CEC6-DDBF-462D-AD3B-78721E042833}"/>
                </a:ext>
              </a:extLst>
            </p:cNvPr>
            <p:cNvSpPr/>
            <p:nvPr/>
          </p:nvSpPr>
          <p:spPr>
            <a:xfrm>
              <a:off x="391368" y="33683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049D45-21D4-F220-89C0-1A51AA519406}"/>
                </a:ext>
              </a:extLst>
            </p:cNvPr>
            <p:cNvSpPr txBox="1"/>
            <p:nvPr/>
          </p:nvSpPr>
          <p:spPr>
            <a:xfrm>
              <a:off x="480268" y="34572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SFR-017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1E2CC96-8DF7-44DA-6000-437593DCAE91}"/>
                </a:ext>
              </a:extLst>
            </p:cNvPr>
            <p:cNvSpPr/>
            <p:nvPr/>
          </p:nvSpPr>
          <p:spPr>
            <a:xfrm>
              <a:off x="1851868" y="33683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8F60322-5589-6647-2C0C-281E14B3B790}"/>
                </a:ext>
              </a:extLst>
            </p:cNvPr>
            <p:cNvSpPr txBox="1"/>
            <p:nvPr/>
          </p:nvSpPr>
          <p:spPr>
            <a:xfrm>
              <a:off x="1940768" y="34572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모듈형 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RAG,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리랭킹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환각 최소화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성능 튜닝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C3B4844-01CF-8458-540E-C005E1C37B03}"/>
                </a:ext>
              </a:extLst>
            </p:cNvPr>
            <p:cNvSpPr/>
            <p:nvPr/>
          </p:nvSpPr>
          <p:spPr>
            <a:xfrm>
              <a:off x="5471368" y="33683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A5A6415-19A4-CDC4-F5AC-AC05F0EE55C0}"/>
                </a:ext>
              </a:extLst>
            </p:cNvPr>
            <p:cNvSpPr txBox="1"/>
            <p:nvPr/>
          </p:nvSpPr>
          <p:spPr>
            <a:xfrm>
              <a:off x="5560268" y="34572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/RAG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품질 검증 기준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973522D-422E-28B4-4024-D6207007569A}"/>
                </a:ext>
              </a:extLst>
            </p:cNvPr>
            <p:cNvSpPr/>
            <p:nvPr/>
          </p:nvSpPr>
          <p:spPr>
            <a:xfrm>
              <a:off x="391368" y="43081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FC49060-79C9-46FE-83B1-B15C4812AAF3}"/>
                </a:ext>
              </a:extLst>
            </p:cNvPr>
            <p:cNvSpPr txBox="1"/>
            <p:nvPr/>
          </p:nvSpPr>
          <p:spPr>
            <a:xfrm>
              <a:off x="480268" y="43970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SFR-018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FA1D7EE-38DC-71EF-DAAD-8399655BD5C0}"/>
                </a:ext>
              </a:extLst>
            </p:cNvPr>
            <p:cNvSpPr/>
            <p:nvPr/>
          </p:nvSpPr>
          <p:spPr>
            <a:xfrm>
              <a:off x="1851868" y="43081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B445E92-F382-33FC-B31B-C6567C9A1CA8}"/>
                </a:ext>
              </a:extLst>
            </p:cNvPr>
            <p:cNvSpPr txBox="1"/>
            <p:nvPr/>
          </p:nvSpPr>
          <p:spPr>
            <a:xfrm>
              <a:off x="1940768" y="43970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내부 문서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법령 자연어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벡터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키워드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미리보기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필터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정렬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091BA69-A0E0-6713-6D5D-5AB07E43B2FC}"/>
                </a:ext>
              </a:extLst>
            </p:cNvPr>
            <p:cNvSpPr/>
            <p:nvPr/>
          </p:nvSpPr>
          <p:spPr>
            <a:xfrm>
              <a:off x="5471368" y="43081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5A5165C-FC6C-B7D3-887B-1C0C49315395}"/>
                </a:ext>
              </a:extLst>
            </p:cNvPr>
            <p:cNvSpPr txBox="1"/>
            <p:nvPr/>
          </p:nvSpPr>
          <p:spPr>
            <a:xfrm>
              <a:off x="5560268" y="43970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검색 인덱스와 권한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 필터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031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51B6-08F2-EBAB-4B1B-A57A2655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C66FE32-1977-CAEF-F4AF-E22313C2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 기반 적재 데이터 구성</a:t>
            </a:r>
            <a:endParaRPr lang="ko-KR" altLang="en-US" dirty="0"/>
          </a:p>
        </p:txBody>
      </p:sp>
      <p:sp>
        <p:nvSpPr>
          <p:cNvPr id="9" name="모서리가 둥근 직사각형 35">
            <a:extLst>
              <a:ext uri="{FF2B5EF4-FFF2-40B4-BE49-F238E27FC236}">
                <a16:creationId xmlns:a16="http://schemas.microsoft.com/office/drawing/2014/main" id="{6A228A66-640D-BE88-3086-EB723B6DCC76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요구사항정의서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SFR-004(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문서정보 수집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SFR-005(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비정형 문서 구조화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SFR-017(RAG), SFR-018(AI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지능형 검색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적재 관점으로 재구성</a:t>
            </a:r>
            <a:endParaRPr lang="ko-KR" altLang="en-US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47CD0B-4ABC-857F-B193-A0E307F9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pSp>
        <p:nvGrpSpPr>
          <p:cNvPr id="78" name="그룹 77">
            <a:extLst>
              <a:ext uri="{FF2B5EF4-FFF2-40B4-BE49-F238E27FC236}">
                <a16:creationId xmlns:a16="http://schemas.microsoft.com/office/drawing/2014/main" id="{C32F42B9-98FA-05A4-23B5-D79EE9CC6B45}"/>
              </a:ext>
            </a:extLst>
          </p:cNvPr>
          <p:cNvGrpSpPr/>
          <p:nvPr/>
        </p:nvGrpSpPr>
        <p:grpSpPr>
          <a:xfrm>
            <a:off x="378474" y="971852"/>
            <a:ext cx="9138110" cy="4445000"/>
            <a:chOff x="378474" y="971852"/>
            <a:chExt cx="8064500" cy="44450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24FED05-BC6D-7A3C-3D73-C66B5B2C68C6}"/>
                </a:ext>
              </a:extLst>
            </p:cNvPr>
            <p:cNvSpPr/>
            <p:nvPr/>
          </p:nvSpPr>
          <p:spPr>
            <a:xfrm>
              <a:off x="378474" y="971852"/>
              <a:ext cx="1778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DCED242-9B4D-D6EC-C9D4-647C977D45F5}"/>
                </a:ext>
              </a:extLst>
            </p:cNvPr>
            <p:cNvSpPr txBox="1"/>
            <p:nvPr/>
          </p:nvSpPr>
          <p:spPr>
            <a:xfrm>
              <a:off x="505474" y="1073452"/>
              <a:ext cx="1524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단위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27C5FCC-B333-1FFD-0F64-91CF48086BEA}"/>
                </a:ext>
              </a:extLst>
            </p:cNvPr>
            <p:cNvSpPr/>
            <p:nvPr/>
          </p:nvSpPr>
          <p:spPr>
            <a:xfrm>
              <a:off x="2156474" y="971852"/>
              <a:ext cx="4445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CFCB64-E9F7-F4FC-7F6D-B9DBC08B3857}"/>
                </a:ext>
              </a:extLst>
            </p:cNvPr>
            <p:cNvSpPr txBox="1"/>
            <p:nvPr/>
          </p:nvSpPr>
          <p:spPr>
            <a:xfrm>
              <a:off x="2283474" y="1073452"/>
              <a:ext cx="4191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적재 내용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60F5E97-2C61-EDD9-B1AF-D1157EE6731E}"/>
                </a:ext>
              </a:extLst>
            </p:cNvPr>
            <p:cNvSpPr/>
            <p:nvPr/>
          </p:nvSpPr>
          <p:spPr>
            <a:xfrm>
              <a:off x="6601474" y="971852"/>
              <a:ext cx="1841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FD3178-6840-E193-6EEA-53DC19A30EA2}"/>
                </a:ext>
              </a:extLst>
            </p:cNvPr>
            <p:cNvSpPr txBox="1"/>
            <p:nvPr/>
          </p:nvSpPr>
          <p:spPr>
            <a:xfrm>
              <a:off x="6728474" y="1073452"/>
              <a:ext cx="1587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주요 키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8D69919-90E2-6F51-7DDE-B90B85994267}"/>
                </a:ext>
              </a:extLst>
            </p:cNvPr>
            <p:cNvSpPr/>
            <p:nvPr/>
          </p:nvSpPr>
          <p:spPr>
            <a:xfrm>
              <a:off x="378474" y="14798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9D1E98-5681-855F-DAA5-D259920CF7F2}"/>
                </a:ext>
              </a:extLst>
            </p:cNvPr>
            <p:cNvSpPr txBox="1"/>
            <p:nvPr/>
          </p:nvSpPr>
          <p:spPr>
            <a:xfrm>
              <a:off x="467374" y="15687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파일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7E507E5-D768-0595-963D-800AB516306E}"/>
                </a:ext>
              </a:extLst>
            </p:cNvPr>
            <p:cNvSpPr/>
            <p:nvPr/>
          </p:nvSpPr>
          <p:spPr>
            <a:xfrm>
              <a:off x="2156474" y="14798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0AD573-8942-B616-8C25-48CFDBC75A7F}"/>
                </a:ext>
              </a:extLst>
            </p:cNvPr>
            <p:cNvSpPr txBox="1"/>
            <p:nvPr/>
          </p:nvSpPr>
          <p:spPr>
            <a:xfrm>
              <a:off x="2245374" y="15687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PDF, HWP/HWPX, PPTX, XLSX, DOC, TXT,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이미지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영상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CE26338-FBAA-A1F1-7569-95D7AE66D661}"/>
                </a:ext>
              </a:extLst>
            </p:cNvPr>
            <p:cNvSpPr/>
            <p:nvPr/>
          </p:nvSpPr>
          <p:spPr>
            <a:xfrm>
              <a:off x="6601474" y="14798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990CC7-C0FC-4E6B-A4F9-C4B79A95C3C7}"/>
                </a:ext>
              </a:extLst>
            </p:cNvPr>
            <p:cNvSpPr txBox="1"/>
            <p:nvPr/>
          </p:nvSpPr>
          <p:spPr>
            <a:xfrm>
              <a:off x="6690374" y="15687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document_id, source_path, file_hash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51EB94F-9599-3381-1813-28F9D13C9976}"/>
                </a:ext>
              </a:extLst>
            </p:cNvPr>
            <p:cNvSpPr/>
            <p:nvPr/>
          </p:nvSpPr>
          <p:spPr>
            <a:xfrm>
              <a:off x="378474" y="21402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F169FD-8041-12CF-F4F3-3430C635933A}"/>
                </a:ext>
              </a:extLst>
            </p:cNvPr>
            <p:cNvSpPr txBox="1"/>
            <p:nvPr/>
          </p:nvSpPr>
          <p:spPr>
            <a:xfrm>
              <a:off x="467374" y="22291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추출 데이터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2B44FD-82D0-EED2-C823-8F092FDECBDB}"/>
                </a:ext>
              </a:extLst>
            </p:cNvPr>
            <p:cNvSpPr/>
            <p:nvPr/>
          </p:nvSpPr>
          <p:spPr>
            <a:xfrm>
              <a:off x="2156474" y="21402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24D9E5-E546-A65C-E1E2-2965D41EA865}"/>
                </a:ext>
              </a:extLst>
            </p:cNvPr>
            <p:cNvSpPr txBox="1"/>
            <p:nvPr/>
          </p:nvSpPr>
          <p:spPr>
            <a:xfrm>
              <a:off x="2245374" y="22291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본문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그래프 설명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이미지 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OCR,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특수문자 보존 텍스트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1DF4433-EF9B-E415-6A11-79F433DB487E}"/>
                </a:ext>
              </a:extLst>
            </p:cNvPr>
            <p:cNvSpPr/>
            <p:nvPr/>
          </p:nvSpPr>
          <p:spPr>
            <a:xfrm>
              <a:off x="6601474" y="21402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C48498-65E9-7C4A-01C0-51E350F57F3D}"/>
                </a:ext>
              </a:extLst>
            </p:cNvPr>
            <p:cNvSpPr txBox="1"/>
            <p:nvPr/>
          </p:nvSpPr>
          <p:spPr>
            <a:xfrm>
              <a:off x="6690374" y="22291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document_id, page_no, extraction_method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17B587E-80D3-91D1-CC55-09A6BC9099DB}"/>
                </a:ext>
              </a:extLst>
            </p:cNvPr>
            <p:cNvSpPr/>
            <p:nvPr/>
          </p:nvSpPr>
          <p:spPr>
            <a:xfrm>
              <a:off x="378474" y="28006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212FE30-33BC-1443-33E0-7249E68CA1C6}"/>
                </a:ext>
              </a:extLst>
            </p:cNvPr>
            <p:cNvSpPr txBox="1"/>
            <p:nvPr/>
          </p:nvSpPr>
          <p:spPr>
            <a:xfrm>
              <a:off x="467374" y="28895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D7ABAB-A6B3-0A0C-9818-609CE216F6C3}"/>
                </a:ext>
              </a:extLst>
            </p:cNvPr>
            <p:cNvSpPr/>
            <p:nvPr/>
          </p:nvSpPr>
          <p:spPr>
            <a:xfrm>
              <a:off x="2156474" y="28006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92387D6-9F07-24B8-C7ED-771B65608668}"/>
                </a:ext>
              </a:extLst>
            </p:cNvPr>
            <p:cNvSpPr txBox="1"/>
            <p:nvPr/>
          </p:nvSpPr>
          <p:spPr>
            <a:xfrm>
              <a:off x="2245374" y="28895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문서명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유형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부서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작성자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생성일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버전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주제어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8A6BD85-EA11-0025-6465-D3AFC569A0BA}"/>
                </a:ext>
              </a:extLst>
            </p:cNvPr>
            <p:cNvSpPr/>
            <p:nvPr/>
          </p:nvSpPr>
          <p:spPr>
            <a:xfrm>
              <a:off x="6601474" y="28006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705BDA2-D1EA-AAC5-2209-73CCE8CE9067}"/>
                </a:ext>
              </a:extLst>
            </p:cNvPr>
            <p:cNvSpPr txBox="1"/>
            <p:nvPr/>
          </p:nvSpPr>
          <p:spPr>
            <a:xfrm>
              <a:off x="6690374" y="28895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doc_type, department, security_level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370CA3B-73CC-427F-8859-C3C2A398B628}"/>
                </a:ext>
              </a:extLst>
            </p:cNvPr>
            <p:cNvSpPr/>
            <p:nvPr/>
          </p:nvSpPr>
          <p:spPr>
            <a:xfrm>
              <a:off x="378474" y="34610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6ECD68-B780-98CC-F2BD-163CF316EF46}"/>
                </a:ext>
              </a:extLst>
            </p:cNvPr>
            <p:cNvSpPr txBox="1"/>
            <p:nvPr/>
          </p:nvSpPr>
          <p:spPr>
            <a:xfrm>
              <a:off x="467374" y="35499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5895BAC-9D2B-AC1A-6219-55809543FDDF}"/>
                </a:ext>
              </a:extLst>
            </p:cNvPr>
            <p:cNvSpPr/>
            <p:nvPr/>
          </p:nvSpPr>
          <p:spPr>
            <a:xfrm>
              <a:off x="2156474" y="34610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382AB0-F945-DDF5-38EC-5DEC6038EF4A}"/>
                </a:ext>
              </a:extLst>
            </p:cNvPr>
            <p:cNvSpPr txBox="1"/>
            <p:nvPr/>
          </p:nvSpPr>
          <p:spPr>
            <a:xfrm>
              <a:off x="2245374" y="35499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문서별 최적 기준으로 분할한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/RAG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입력 단위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CA7606D-B28B-2BAB-0597-FAF212C092CC}"/>
                </a:ext>
              </a:extLst>
            </p:cNvPr>
            <p:cNvSpPr/>
            <p:nvPr/>
          </p:nvSpPr>
          <p:spPr>
            <a:xfrm>
              <a:off x="6601474" y="34610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F6F25C8-89AC-4709-EB07-D214239B64CD}"/>
                </a:ext>
              </a:extLst>
            </p:cNvPr>
            <p:cNvSpPr txBox="1"/>
            <p:nvPr/>
          </p:nvSpPr>
          <p:spPr>
            <a:xfrm>
              <a:off x="6690374" y="35499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chunk_id, chunk_order, token_count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55E001E-D963-970C-7A03-A77E80288869}"/>
                </a:ext>
              </a:extLst>
            </p:cNvPr>
            <p:cNvSpPr/>
            <p:nvPr/>
          </p:nvSpPr>
          <p:spPr>
            <a:xfrm>
              <a:off x="378474" y="41214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41E6FC-4FC0-76AE-C158-9A820E495B2A}"/>
                </a:ext>
              </a:extLst>
            </p:cNvPr>
            <p:cNvSpPr txBox="1"/>
            <p:nvPr/>
          </p:nvSpPr>
          <p:spPr>
            <a:xfrm>
              <a:off x="467374" y="42103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임베딩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28FD3EB-7265-A567-DD97-E2ABFA6E073B}"/>
                </a:ext>
              </a:extLst>
            </p:cNvPr>
            <p:cNvSpPr/>
            <p:nvPr/>
          </p:nvSpPr>
          <p:spPr>
            <a:xfrm>
              <a:off x="2156474" y="41214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9979EA-0BFA-3B67-329B-E833DB5189CC}"/>
                </a:ext>
              </a:extLst>
            </p:cNvPr>
            <p:cNvSpPr txBox="1"/>
            <p:nvPr/>
          </p:nvSpPr>
          <p:spPr>
            <a:xfrm>
              <a:off x="2245374" y="42103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 의미 정보를 벡터화한 데이터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B40A65F-B550-E684-4189-7F25D1D902E6}"/>
                </a:ext>
              </a:extLst>
            </p:cNvPr>
            <p:cNvSpPr/>
            <p:nvPr/>
          </p:nvSpPr>
          <p:spPr>
            <a:xfrm>
              <a:off x="6601474" y="41214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820D812-2833-04F0-87C1-C95841C67F2C}"/>
                </a:ext>
              </a:extLst>
            </p:cNvPr>
            <p:cNvSpPr txBox="1"/>
            <p:nvPr/>
          </p:nvSpPr>
          <p:spPr>
            <a:xfrm>
              <a:off x="6690374" y="42103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embedding_id, model_version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E1062C3-96B5-ABBD-0FA0-93AD46710B96}"/>
                </a:ext>
              </a:extLst>
            </p:cNvPr>
            <p:cNvSpPr/>
            <p:nvPr/>
          </p:nvSpPr>
          <p:spPr>
            <a:xfrm>
              <a:off x="378474" y="47818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4133FD-78C5-FDA3-A9DB-CF8C98A96706}"/>
                </a:ext>
              </a:extLst>
            </p:cNvPr>
            <p:cNvSpPr txBox="1"/>
            <p:nvPr/>
          </p:nvSpPr>
          <p:spPr>
            <a:xfrm>
              <a:off x="467374" y="48707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운영 이력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41A8283-3058-25A8-F953-90A2F9FF688D}"/>
                </a:ext>
              </a:extLst>
            </p:cNvPr>
            <p:cNvSpPr/>
            <p:nvPr/>
          </p:nvSpPr>
          <p:spPr>
            <a:xfrm>
              <a:off x="2156474" y="47818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9A9C801-F05D-FB07-3A63-DDBC4405B1D6}"/>
                </a:ext>
              </a:extLst>
            </p:cNvPr>
            <p:cNvSpPr txBox="1"/>
            <p:nvPr/>
          </p:nvSpPr>
          <p:spPr>
            <a:xfrm>
              <a:off x="2245374" y="48707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 상태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오류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재처리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품질 점검 결과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891A9A3-FB9F-811C-3B53-1D201B5604D5}"/>
                </a:ext>
              </a:extLst>
            </p:cNvPr>
            <p:cNvSpPr/>
            <p:nvPr/>
          </p:nvSpPr>
          <p:spPr>
            <a:xfrm>
              <a:off x="6601474" y="47818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C2D47CE-03D5-25E3-760F-86B7F61447A6}"/>
                </a:ext>
              </a:extLst>
            </p:cNvPr>
            <p:cNvSpPr txBox="1"/>
            <p:nvPr/>
          </p:nvSpPr>
          <p:spPr>
            <a:xfrm>
              <a:off x="6690374" y="48707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job_id, status, error_code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7226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6288-454C-0EB0-0D0B-B75661D2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A8CCE8E-F948-CD78-3F6A-BB4BC750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문서 처리 흐름</a:t>
            </a:r>
            <a:endParaRPr lang="ko-KR" altLang="en-US" dirty="0"/>
          </a:p>
        </p:txBody>
      </p:sp>
      <p:sp>
        <p:nvSpPr>
          <p:cNvPr id="9" name="모서리가 둥근 직사각형 35">
            <a:extLst>
              <a:ext uri="{FF2B5EF4-FFF2-40B4-BE49-F238E27FC236}">
                <a16:creationId xmlns:a16="http://schemas.microsoft.com/office/drawing/2014/main" id="{2FFCA7E9-E294-38D7-A6DC-56B487384538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SFR-005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Document Loader, Text Split, Vector Embedding, Vector DB, Retriever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요구를 하나의 적재 흐름으로 연결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BF1F931-D8F7-1E1C-6627-89358DB9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C6DE998-09AF-7D38-740C-BAB24D40053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74" y="897327"/>
            <a:ext cx="6851702" cy="4619905"/>
          </a:xfrm>
          <a:prstGeom prst="rect">
            <a:avLst/>
          </a:prstGeom>
          <a:ln/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F86A7E-3AEF-0DF6-C645-8B6B2EB3CF24}"/>
              </a:ext>
            </a:extLst>
          </p:cNvPr>
          <p:cNvSpPr/>
          <p:nvPr/>
        </p:nvSpPr>
        <p:spPr>
          <a:xfrm>
            <a:off x="7257256" y="983146"/>
            <a:ext cx="2232248" cy="52815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원본 파일 저장 및 문서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ID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부여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수집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업로드된 원본 파일을 저장하고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문서별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document id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를 부여함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 본문 텍스트 추출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문서 유형별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Document Loader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와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OCR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을 통해 본문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표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이미지 내 텍스트를 추출함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 메타데이터 생성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문서 유형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부서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권한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버전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최신본 여부 등 검색 및 관리에 필요한 메타데이터를 생성함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검색 색인 및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Vector DB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적재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추출된 텍스트를 청킹한 뒤 검색 색인과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Vector DB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에 적재함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처리 상태 및 이력 관리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문서 처리 상태와 오류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재처리 이력을 운영 데이터로 관리함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458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498A-DB6B-B53E-B376-83C8683D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B9F2A38-2B81-DC80-85F6-16AD4E70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저장소별 적재 매핑</a:t>
            </a:r>
            <a:endParaRPr lang="ko-KR" altLang="en-US" dirty="0"/>
          </a:p>
        </p:txBody>
      </p:sp>
      <p:sp>
        <p:nvSpPr>
          <p:cNvPr id="26" name="모서리가 둥근 직사각형 35">
            <a:extLst>
              <a:ext uri="{FF2B5EF4-FFF2-40B4-BE49-F238E27FC236}">
                <a16:creationId xmlns:a16="http://schemas.microsoft.com/office/drawing/2014/main" id="{BA671D8F-C9B1-DCE8-D785-292CEE362A71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모든 저장소 데이터는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document_id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chunk_id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중심으로 연결한다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이를 통해 원본 추적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권한 제어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최신본 관리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RAG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출처 표시를 일관되게 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118E8EC-1FEC-C4D9-1855-A73EDA70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DC76BF3-A229-4660-50C4-E92703633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439351"/>
              </p:ext>
            </p:extLst>
          </p:nvPr>
        </p:nvGraphicFramePr>
        <p:xfrm>
          <a:off x="353242" y="927258"/>
          <a:ext cx="9138109" cy="4513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63088483"/>
                    </a:ext>
                  </a:extLst>
                </a:gridCol>
                <a:gridCol w="3112050">
                  <a:extLst>
                    <a:ext uri="{9D8B030D-6E8A-4147-A177-3AD203B41FA5}">
                      <a16:colId xmlns:a16="http://schemas.microsoft.com/office/drawing/2014/main" val="3978340900"/>
                    </a:ext>
                  </a:extLst>
                </a:gridCol>
                <a:gridCol w="2687679">
                  <a:extLst>
                    <a:ext uri="{9D8B030D-6E8A-4147-A177-3AD203B41FA5}">
                      <a16:colId xmlns:a16="http://schemas.microsoft.com/office/drawing/2014/main" val="1952823777"/>
                    </a:ext>
                  </a:extLst>
                </a:gridCol>
                <a:gridCol w="1853084">
                  <a:extLst>
                    <a:ext uri="{9D8B030D-6E8A-4147-A177-3AD203B41FA5}">
                      <a16:colId xmlns:a16="http://schemas.microsoft.com/office/drawing/2014/main" val="3668493111"/>
                    </a:ext>
                  </a:extLst>
                </a:gridCol>
              </a:tblGrid>
              <a:tr h="471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저장소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적재 데이터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활용 목적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연결 기준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955133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Object Storage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파일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OCR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이미지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변환 산출물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보관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증적 관리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source_path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397247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Metadata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문서 속성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권한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버전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해시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최신본 여부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검색 필터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권한 제어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중복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최신본 관리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file_hash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62333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Search Index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추출 텍스트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키워드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미리보기 텍스트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키워드 검색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미리보기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필터 검색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chunk_id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214761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Vector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청크 임베딩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임베딩 모델 버전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유사도 검색 데이터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의미 기반 검색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RAG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검색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chunk_id, embedding_id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659138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Processing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파서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/OCR/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색인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2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임베딩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 상태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오류 로그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 이력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적재 운영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오류 추적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job_id, document_id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97882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Analysis DB/BI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문서 유형별 수량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실패율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처리시간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품질 점검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운영 현황 분석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보고 지표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doc_type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status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7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79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F357-510D-822D-1391-B1D95675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816E999-0D9E-EB34-342A-AFD99313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메타데이터 기준안</a:t>
            </a:r>
            <a:endParaRPr lang="ko-KR" altLang="en-US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D345F82-EB92-E1C7-C996-A0D48A772D0D}"/>
              </a:ext>
            </a:extLst>
          </p:cNvPr>
          <p:cNvGrpSpPr/>
          <p:nvPr/>
        </p:nvGrpSpPr>
        <p:grpSpPr>
          <a:xfrm>
            <a:off x="389416" y="897328"/>
            <a:ext cx="9127168" cy="5195968"/>
            <a:chOff x="389416" y="897328"/>
            <a:chExt cx="8001000" cy="48514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C0F958CD-54BD-CC9F-23D4-A4CCF16BB9A9}"/>
                </a:ext>
              </a:extLst>
            </p:cNvPr>
            <p:cNvSpPr/>
            <p:nvPr/>
          </p:nvSpPr>
          <p:spPr>
            <a:xfrm>
              <a:off x="389416" y="897328"/>
              <a:ext cx="1841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60BB4AA-C542-3275-84E4-3E24FCDDE7FD}"/>
                </a:ext>
              </a:extLst>
            </p:cNvPr>
            <p:cNvSpPr txBox="1"/>
            <p:nvPr/>
          </p:nvSpPr>
          <p:spPr>
            <a:xfrm>
              <a:off x="516416" y="998928"/>
              <a:ext cx="15875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항목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4ED38B4-F7F9-AD59-D671-D9E49AD43A2A}"/>
                </a:ext>
              </a:extLst>
            </p:cNvPr>
            <p:cNvSpPr/>
            <p:nvPr/>
          </p:nvSpPr>
          <p:spPr>
            <a:xfrm>
              <a:off x="2230916" y="897328"/>
              <a:ext cx="3619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F2A192-6866-845C-293B-094D2E1D2BA4}"/>
                </a:ext>
              </a:extLst>
            </p:cNvPr>
            <p:cNvSpPr txBox="1"/>
            <p:nvPr/>
          </p:nvSpPr>
          <p:spPr>
            <a:xfrm>
              <a:off x="2357916" y="998928"/>
              <a:ext cx="33655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설명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935B921-A7E3-4AAD-FF24-19B09777C7B6}"/>
                </a:ext>
              </a:extLst>
            </p:cNvPr>
            <p:cNvSpPr/>
            <p:nvPr/>
          </p:nvSpPr>
          <p:spPr>
            <a:xfrm>
              <a:off x="5850416" y="897328"/>
              <a:ext cx="2540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DFD38C-1FF6-35C6-83CD-0132A11A328A}"/>
                </a:ext>
              </a:extLst>
            </p:cNvPr>
            <p:cNvSpPr txBox="1"/>
            <p:nvPr/>
          </p:nvSpPr>
          <p:spPr>
            <a:xfrm>
              <a:off x="5977416" y="998928"/>
              <a:ext cx="22860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관리 목적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7B0332F-C861-93C0-5D24-F5789310439A}"/>
                </a:ext>
              </a:extLst>
            </p:cNvPr>
            <p:cNvSpPr/>
            <p:nvPr/>
          </p:nvSpPr>
          <p:spPr>
            <a:xfrm>
              <a:off x="389416" y="14053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F1A028-859B-BCBB-761B-D779A5DE704B}"/>
                </a:ext>
              </a:extLst>
            </p:cNvPr>
            <p:cNvSpPr txBox="1"/>
            <p:nvPr/>
          </p:nvSpPr>
          <p:spPr>
            <a:xfrm>
              <a:off x="478316" y="14942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 dirty="0" err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317DBC4-D1E5-ADA1-36A2-52DE70B257C3}"/>
                </a:ext>
              </a:extLst>
            </p:cNvPr>
            <p:cNvSpPr/>
            <p:nvPr/>
          </p:nvSpPr>
          <p:spPr>
            <a:xfrm>
              <a:off x="2230916" y="14053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4A5AC8-4382-CA88-8DEA-B9C59A2B7DD1}"/>
                </a:ext>
              </a:extLst>
            </p:cNvPr>
            <p:cNvSpPr txBox="1"/>
            <p:nvPr/>
          </p:nvSpPr>
          <p:spPr>
            <a:xfrm>
              <a:off x="2319816" y="14942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고유 식별자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807463F-7320-0994-C3D6-70C2F52D8D30}"/>
                </a:ext>
              </a:extLst>
            </p:cNvPr>
            <p:cNvSpPr/>
            <p:nvPr/>
          </p:nvSpPr>
          <p:spPr>
            <a:xfrm>
              <a:off x="5850416" y="14053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2D698D-DE02-B747-FA92-CFA7B22EB3D3}"/>
                </a:ext>
              </a:extLst>
            </p:cNvPr>
            <p:cNvSpPr txBox="1"/>
            <p:nvPr/>
          </p:nvSpPr>
          <p:spPr>
            <a:xfrm>
              <a:off x="5939316" y="14942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추출문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벡터 연결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635A6C3-94F5-FE4D-4836-86DAE9458369}"/>
                </a:ext>
              </a:extLst>
            </p:cNvPr>
            <p:cNvSpPr/>
            <p:nvPr/>
          </p:nvSpPr>
          <p:spPr>
            <a:xfrm>
              <a:off x="389416" y="19514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E7E60B-962B-76C1-C88A-0A612A713B8F}"/>
                </a:ext>
              </a:extLst>
            </p:cNvPr>
            <p:cNvSpPr txBox="1"/>
            <p:nvPr/>
          </p:nvSpPr>
          <p:spPr>
            <a:xfrm>
              <a:off x="478316" y="20403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source_path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B5DBE95-D8B2-24C1-40D3-DA159F3706BB}"/>
                </a:ext>
              </a:extLst>
            </p:cNvPr>
            <p:cNvSpPr/>
            <p:nvPr/>
          </p:nvSpPr>
          <p:spPr>
            <a:xfrm>
              <a:off x="2230916" y="19514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4F6F6D9-29C4-7888-4F27-6EC1B105960F}"/>
                </a:ext>
              </a:extLst>
            </p:cNvPr>
            <p:cNvSpPr txBox="1"/>
            <p:nvPr/>
          </p:nvSpPr>
          <p:spPr>
            <a:xfrm>
              <a:off x="2319816" y="20403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경로 또는 수집 경로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DEB02A1-9D40-EB76-847D-FC263F14243B}"/>
                </a:ext>
              </a:extLst>
            </p:cNvPr>
            <p:cNvSpPr/>
            <p:nvPr/>
          </p:nvSpPr>
          <p:spPr>
            <a:xfrm>
              <a:off x="5850416" y="19514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669EB2E-A9AC-1614-7414-E25F7AFB29E0}"/>
                </a:ext>
              </a:extLst>
            </p:cNvPr>
            <p:cNvSpPr txBox="1"/>
            <p:nvPr/>
          </p:nvSpPr>
          <p:spPr>
            <a:xfrm>
              <a:off x="5939316" y="20403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추적 및 재처리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5314FAF-97D4-35FE-C645-2836F64DB195}"/>
                </a:ext>
              </a:extLst>
            </p:cNvPr>
            <p:cNvSpPr/>
            <p:nvPr/>
          </p:nvSpPr>
          <p:spPr>
            <a:xfrm>
              <a:off x="389416" y="24975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B308CD5-24E8-BB11-D311-64506F4AA6B9}"/>
                </a:ext>
              </a:extLst>
            </p:cNvPr>
            <p:cNvSpPr txBox="1"/>
            <p:nvPr/>
          </p:nvSpPr>
          <p:spPr>
            <a:xfrm>
              <a:off x="478316" y="25864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file_hash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5DF1D0D-A783-2F99-846C-05229B5D58E8}"/>
                </a:ext>
              </a:extLst>
            </p:cNvPr>
            <p:cNvSpPr/>
            <p:nvPr/>
          </p:nvSpPr>
          <p:spPr>
            <a:xfrm>
              <a:off x="2230916" y="24975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478B8A-0470-9E58-5F60-ED1094303D3C}"/>
                </a:ext>
              </a:extLst>
            </p:cNvPr>
            <p:cNvSpPr txBox="1"/>
            <p:nvPr/>
          </p:nvSpPr>
          <p:spPr>
            <a:xfrm>
              <a:off x="2319816" y="25864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파일 해시값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18897E2-0234-08C4-C496-058ADC4C14E7}"/>
                </a:ext>
              </a:extLst>
            </p:cNvPr>
            <p:cNvSpPr/>
            <p:nvPr/>
          </p:nvSpPr>
          <p:spPr>
            <a:xfrm>
              <a:off x="5850416" y="24975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38DCB08-AF36-026B-693E-2DCCD3270569}"/>
                </a:ext>
              </a:extLst>
            </p:cNvPr>
            <p:cNvSpPr txBox="1"/>
            <p:nvPr/>
          </p:nvSpPr>
          <p:spPr>
            <a:xfrm>
              <a:off x="5939316" y="25864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중복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변경 여부 판단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2902063-C720-2020-3DCC-0B8E1E308D2E}"/>
                </a:ext>
              </a:extLst>
            </p:cNvPr>
            <p:cNvSpPr/>
            <p:nvPr/>
          </p:nvSpPr>
          <p:spPr>
            <a:xfrm>
              <a:off x="389416" y="30436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37BA72-8657-D544-AC72-E8A348D47127}"/>
                </a:ext>
              </a:extLst>
            </p:cNvPr>
            <p:cNvSpPr txBox="1"/>
            <p:nvPr/>
          </p:nvSpPr>
          <p:spPr>
            <a:xfrm>
              <a:off x="478316" y="31325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doc_type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4E96412-F576-2ECA-ED85-A6BD21440DAD}"/>
                </a:ext>
              </a:extLst>
            </p:cNvPr>
            <p:cNvSpPr/>
            <p:nvPr/>
          </p:nvSpPr>
          <p:spPr>
            <a:xfrm>
              <a:off x="2230916" y="30436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A79E66D-DBD2-24D2-7C82-686AE2429194}"/>
                </a:ext>
              </a:extLst>
            </p:cNvPr>
            <p:cNvSpPr txBox="1"/>
            <p:nvPr/>
          </p:nvSpPr>
          <p:spPr>
            <a:xfrm>
              <a:off x="2319816" y="31325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유형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34FBB98-6A57-CE19-09DA-079AC2AFD571}"/>
                </a:ext>
              </a:extLst>
            </p:cNvPr>
            <p:cNvSpPr/>
            <p:nvPr/>
          </p:nvSpPr>
          <p:spPr>
            <a:xfrm>
              <a:off x="5850416" y="30436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480672A-90B2-B18D-9ADF-E3B8D1F1C84A}"/>
                </a:ext>
              </a:extLst>
            </p:cNvPr>
            <p:cNvSpPr txBox="1"/>
            <p:nvPr/>
          </p:nvSpPr>
          <p:spPr>
            <a:xfrm>
              <a:off x="5939316" y="31325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파서 선택과 검색 필터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FE20393-EB37-2B84-F0C2-3B53BF4EC8D9}"/>
                </a:ext>
              </a:extLst>
            </p:cNvPr>
            <p:cNvSpPr/>
            <p:nvPr/>
          </p:nvSpPr>
          <p:spPr>
            <a:xfrm>
              <a:off x="389416" y="35897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6E243E5-1119-6FFA-06B9-B69CA59C1B7A}"/>
                </a:ext>
              </a:extLst>
            </p:cNvPr>
            <p:cNvSpPr txBox="1"/>
            <p:nvPr/>
          </p:nvSpPr>
          <p:spPr>
            <a:xfrm>
              <a:off x="478316" y="36786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department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FD5BE07-2521-2722-824A-39DCBFFCACB8}"/>
                </a:ext>
              </a:extLst>
            </p:cNvPr>
            <p:cNvSpPr/>
            <p:nvPr/>
          </p:nvSpPr>
          <p:spPr>
            <a:xfrm>
              <a:off x="2230916" y="35897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E70154D-EE7A-33ED-8A1A-CD3FF9DE3C29}"/>
                </a:ext>
              </a:extLst>
            </p:cNvPr>
            <p:cNvSpPr txBox="1"/>
            <p:nvPr/>
          </p:nvSpPr>
          <p:spPr>
            <a:xfrm>
              <a:off x="2319816" y="36786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담당 부서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D472BCC-8E67-603E-0D6A-92CB85C6B2D3}"/>
                </a:ext>
              </a:extLst>
            </p:cNvPr>
            <p:cNvSpPr/>
            <p:nvPr/>
          </p:nvSpPr>
          <p:spPr>
            <a:xfrm>
              <a:off x="5850416" y="35897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40B3438-9265-B53B-550C-A801AC3FC5F4}"/>
                </a:ext>
              </a:extLst>
            </p:cNvPr>
            <p:cNvSpPr txBox="1"/>
            <p:nvPr/>
          </p:nvSpPr>
          <p:spPr>
            <a:xfrm>
              <a:off x="5939316" y="36786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업무 분류와 권한 판단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8DFDA51-786B-646E-DFB0-F33467D5E5CB}"/>
                </a:ext>
              </a:extLst>
            </p:cNvPr>
            <p:cNvSpPr/>
            <p:nvPr/>
          </p:nvSpPr>
          <p:spPr>
            <a:xfrm>
              <a:off x="389416" y="41358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796493-BEB9-FCA3-49BD-EB5BA7BE73C5}"/>
                </a:ext>
              </a:extLst>
            </p:cNvPr>
            <p:cNvSpPr txBox="1"/>
            <p:nvPr/>
          </p:nvSpPr>
          <p:spPr>
            <a:xfrm>
              <a:off x="478316" y="42247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security_level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1251393-1E77-AFB2-45D2-572D1B1533AF}"/>
                </a:ext>
              </a:extLst>
            </p:cNvPr>
            <p:cNvSpPr/>
            <p:nvPr/>
          </p:nvSpPr>
          <p:spPr>
            <a:xfrm>
              <a:off x="2230916" y="41358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67687CC-3EDE-0C8C-B136-0337ABDB7327}"/>
                </a:ext>
              </a:extLst>
            </p:cNvPr>
            <p:cNvSpPr txBox="1"/>
            <p:nvPr/>
          </p:nvSpPr>
          <p:spPr>
            <a:xfrm>
              <a:off x="2319816" y="42247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보안 등급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2316591-3E0A-9D28-4B6B-3731F863E19F}"/>
                </a:ext>
              </a:extLst>
            </p:cNvPr>
            <p:cNvSpPr/>
            <p:nvPr/>
          </p:nvSpPr>
          <p:spPr>
            <a:xfrm>
              <a:off x="5850416" y="41358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021B860-44A0-BD94-4C0A-CCD0FDC143AD}"/>
                </a:ext>
              </a:extLst>
            </p:cNvPr>
            <p:cNvSpPr txBox="1"/>
            <p:nvPr/>
          </p:nvSpPr>
          <p:spPr>
            <a:xfrm>
              <a:off x="5939316" y="42247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노출 제어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701A69A-6343-00AB-1ED5-02C28144B59B}"/>
                </a:ext>
              </a:extLst>
            </p:cNvPr>
            <p:cNvSpPr/>
            <p:nvPr/>
          </p:nvSpPr>
          <p:spPr>
            <a:xfrm>
              <a:off x="389416" y="46819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6E1DCEC-01B2-E0D0-1F47-5F9851AFF960}"/>
                </a:ext>
              </a:extLst>
            </p:cNvPr>
            <p:cNvSpPr txBox="1"/>
            <p:nvPr/>
          </p:nvSpPr>
          <p:spPr>
            <a:xfrm>
              <a:off x="478316" y="47708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version/latest_flag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EA103CF-D703-86AE-C675-8C558BF07EFB}"/>
                </a:ext>
              </a:extLst>
            </p:cNvPr>
            <p:cNvSpPr/>
            <p:nvPr/>
          </p:nvSpPr>
          <p:spPr>
            <a:xfrm>
              <a:off x="2230916" y="46819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0282AE5-51E2-C026-6338-44139FD63845}"/>
                </a:ext>
              </a:extLst>
            </p:cNvPr>
            <p:cNvSpPr txBox="1"/>
            <p:nvPr/>
          </p:nvSpPr>
          <p:spPr>
            <a:xfrm>
              <a:off x="2319816" y="47708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버전 및 최신본 여부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14437B6-ECE1-068F-3BD4-37BF938508DB}"/>
                </a:ext>
              </a:extLst>
            </p:cNvPr>
            <p:cNvSpPr/>
            <p:nvPr/>
          </p:nvSpPr>
          <p:spPr>
            <a:xfrm>
              <a:off x="5850416" y="46819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0DD4A42-4932-35F8-845F-034EF3D13D45}"/>
                </a:ext>
              </a:extLst>
            </p:cNvPr>
            <p:cNvSpPr txBox="1"/>
            <p:nvPr/>
          </p:nvSpPr>
          <p:spPr>
            <a:xfrm>
              <a:off x="5939316" y="47708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오래된 문서 사용 방지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91C97A2-B9A2-DAA8-CC1B-B499DF8C236D}"/>
                </a:ext>
              </a:extLst>
            </p:cNvPr>
            <p:cNvSpPr/>
            <p:nvPr/>
          </p:nvSpPr>
          <p:spPr>
            <a:xfrm>
              <a:off x="389416" y="52280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BDE55FD-A6E3-43BD-249A-B6BAFA259B9A}"/>
                </a:ext>
              </a:extLst>
            </p:cNvPr>
            <p:cNvSpPr txBox="1"/>
            <p:nvPr/>
          </p:nvSpPr>
          <p:spPr>
            <a:xfrm>
              <a:off x="478316" y="53169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ingestion_status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27EB026-4B24-7573-3ECE-0CF5B9173806}"/>
                </a:ext>
              </a:extLst>
            </p:cNvPr>
            <p:cNvSpPr/>
            <p:nvPr/>
          </p:nvSpPr>
          <p:spPr>
            <a:xfrm>
              <a:off x="2230916" y="52280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CCA5C0-7B79-01A9-650E-8FB7B6F4BEAB}"/>
                </a:ext>
              </a:extLst>
            </p:cNvPr>
            <p:cNvSpPr txBox="1"/>
            <p:nvPr/>
          </p:nvSpPr>
          <p:spPr>
            <a:xfrm>
              <a:off x="2319816" y="53169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 상태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07BBE07-2023-10EB-7807-F1121AAE2F86}"/>
                </a:ext>
              </a:extLst>
            </p:cNvPr>
            <p:cNvSpPr/>
            <p:nvPr/>
          </p:nvSpPr>
          <p:spPr>
            <a:xfrm>
              <a:off x="5850416" y="52280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7969A21-310C-181F-C5B2-A77F4A00AD70}"/>
                </a:ext>
              </a:extLst>
            </p:cNvPr>
            <p:cNvSpPr txBox="1"/>
            <p:nvPr/>
          </p:nvSpPr>
          <p:spPr>
            <a:xfrm>
              <a:off x="5939316" y="53169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운영 점검과 재처리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924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0155C-E345-BB1A-6427-F5EBC229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FD59011-68D0-20C9-2575-E8935E6D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수행 태스크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496F08A-46E0-7705-14B7-210758DFBE88}"/>
              </a:ext>
            </a:extLst>
          </p:cNvPr>
          <p:cNvCxnSpPr>
            <a:cxnSpLocks/>
          </p:cNvCxnSpPr>
          <p:nvPr/>
        </p:nvCxnSpPr>
        <p:spPr>
          <a:xfrm>
            <a:off x="990600" y="2603500"/>
            <a:ext cx="7213600" cy="0"/>
          </a:xfrm>
          <a:prstGeom prst="line">
            <a:avLst/>
          </a:prstGeom>
          <a:ln w="30480">
            <a:solidFill>
              <a:srgbClr val="4433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D99A794-75FF-AFCC-2BAA-79F978EBFCFC}"/>
              </a:ext>
            </a:extLst>
          </p:cNvPr>
          <p:cNvGrpSpPr/>
          <p:nvPr/>
        </p:nvGrpSpPr>
        <p:grpSpPr>
          <a:xfrm>
            <a:off x="787400" y="2362200"/>
            <a:ext cx="482600" cy="482600"/>
            <a:chOff x="787400" y="2362200"/>
            <a:chExt cx="482600" cy="4826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17EC93F-D815-FA3C-43E9-AD19E20A0EA0}"/>
                </a:ext>
              </a:extLst>
            </p:cNvPr>
            <p:cNvSpPr/>
            <p:nvPr/>
          </p:nvSpPr>
          <p:spPr>
            <a:xfrm>
              <a:off x="7874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675038-43AD-8EBC-91B6-07161A5F6C3B}"/>
                </a:ext>
              </a:extLst>
            </p:cNvPr>
            <p:cNvSpPr txBox="1"/>
            <p:nvPr/>
          </p:nvSpPr>
          <p:spPr>
            <a:xfrm>
              <a:off x="8763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1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97D7012-0B5D-6D72-90DB-FE677981F09C}"/>
              </a:ext>
            </a:extLst>
          </p:cNvPr>
          <p:cNvSpPr txBox="1"/>
          <p:nvPr/>
        </p:nvSpPr>
        <p:spPr>
          <a:xfrm>
            <a:off x="355600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대상 문서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범위 확정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E4F7800-927E-B9E3-9A9D-E12A0AD4168B}"/>
              </a:ext>
            </a:extLst>
          </p:cNvPr>
          <p:cNvGrpSpPr/>
          <p:nvPr/>
        </p:nvGrpSpPr>
        <p:grpSpPr>
          <a:xfrm>
            <a:off x="272480" y="3179156"/>
            <a:ext cx="1498600" cy="1160385"/>
            <a:chOff x="127000" y="3060699"/>
            <a:chExt cx="1498600" cy="1160385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40AF25-29B8-75A6-DC3C-F48D146194FE}"/>
                </a:ext>
              </a:extLst>
            </p:cNvPr>
            <p:cNvSpPr/>
            <p:nvPr/>
          </p:nvSpPr>
          <p:spPr>
            <a:xfrm>
              <a:off x="127000" y="3060699"/>
              <a:ext cx="1498600" cy="1160385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420303E-E479-4CA5-29BC-74CC56BD2EE4}"/>
                </a:ext>
              </a:extLst>
            </p:cNvPr>
            <p:cNvSpPr txBox="1"/>
            <p:nvPr/>
          </p:nvSpPr>
          <p:spPr>
            <a:xfrm>
              <a:off x="2159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800">
                  <a:latin typeface="맑은 고딕" panose="020B0503020000020004" pitchFamily="50" charset="-127"/>
                </a:rPr>
                <a:t>보고서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매뉴얼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법령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회의자료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지침</a:t>
              </a:r>
              <a:r>
                <a:rPr lang="en-US" altLang="ko-KR" sz="800">
                  <a:latin typeface="맑은 고딕" panose="020B0503020000020004" pitchFamily="50" charset="-127"/>
                </a:rPr>
                <a:t>·SOP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405E52A-7477-2C4D-3184-F4E81B6EDC97}"/>
                </a:ext>
              </a:extLst>
            </p:cNvPr>
            <p:cNvSpPr txBox="1"/>
            <p:nvPr/>
          </p:nvSpPr>
          <p:spPr>
            <a:xfrm>
              <a:off x="2159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적재 대상 문서 목록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04B7FB0-902A-2153-36FA-02FC9EA90236}"/>
              </a:ext>
            </a:extLst>
          </p:cNvPr>
          <p:cNvGrpSpPr/>
          <p:nvPr/>
        </p:nvGrpSpPr>
        <p:grpSpPr>
          <a:xfrm>
            <a:off x="2608312" y="2362200"/>
            <a:ext cx="482600" cy="482600"/>
            <a:chOff x="2387600" y="2362200"/>
            <a:chExt cx="482600" cy="482600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DABD7F1-C8DF-83D2-5294-FF056A077FB2}"/>
                </a:ext>
              </a:extLst>
            </p:cNvPr>
            <p:cNvSpPr/>
            <p:nvPr/>
          </p:nvSpPr>
          <p:spPr>
            <a:xfrm>
              <a:off x="23876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FF18791-65DF-DFA1-6580-A56A89EF71BC}"/>
                </a:ext>
              </a:extLst>
            </p:cNvPr>
            <p:cNvSpPr txBox="1"/>
            <p:nvPr/>
          </p:nvSpPr>
          <p:spPr>
            <a:xfrm>
              <a:off x="24765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2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632A4EF-F330-9F23-433E-0579B0E1CD7C}"/>
              </a:ext>
            </a:extLst>
          </p:cNvPr>
          <p:cNvSpPr txBox="1"/>
          <p:nvPr/>
        </p:nvSpPr>
        <p:spPr>
          <a:xfrm>
            <a:off x="2188723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업로드 방식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b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</a:b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Loader 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검증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8592C54-9435-7FC7-8D65-84C9967944B5}"/>
              </a:ext>
            </a:extLst>
          </p:cNvPr>
          <p:cNvGrpSpPr/>
          <p:nvPr/>
        </p:nvGrpSpPr>
        <p:grpSpPr>
          <a:xfrm>
            <a:off x="2101423" y="3179156"/>
            <a:ext cx="1498600" cy="1160385"/>
            <a:chOff x="1727200" y="3060699"/>
            <a:chExt cx="1498600" cy="1160385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0FF9A4A8-2E85-081F-89B3-57CD1BEA9CBB}"/>
                </a:ext>
              </a:extLst>
            </p:cNvPr>
            <p:cNvSpPr/>
            <p:nvPr/>
          </p:nvSpPr>
          <p:spPr>
            <a:xfrm>
              <a:off x="1727200" y="3060699"/>
              <a:ext cx="1498600" cy="1160385"/>
            </a:xfrm>
            <a:prstGeom prst="roundRect">
              <a:avLst/>
            </a:prstGeom>
            <a:solidFill>
              <a:srgbClr val="F8FFF0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8D1386E-6515-2F32-0436-47BA86C906D6}"/>
                </a:ext>
              </a:extLst>
            </p:cNvPr>
            <p:cNvSpPr txBox="1"/>
            <p:nvPr/>
          </p:nvSpPr>
          <p:spPr>
            <a:xfrm>
              <a:off x="18161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>
                  <a:latin typeface="맑은 고딕" panose="020B0503020000020004" pitchFamily="50" charset="-127"/>
                </a:rPr>
                <a:t>PDF/HWPX/PPTX/XLSX/DOC/TXT/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이미지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AB8E602-8F24-A27E-25A0-B950DEE8F4CC}"/>
                </a:ext>
              </a:extLst>
            </p:cNvPr>
            <p:cNvSpPr txBox="1"/>
            <p:nvPr/>
          </p:nvSpPr>
          <p:spPr>
            <a:xfrm>
              <a:off x="18161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포맷별 추출 검증표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4E8C449-94BC-BF11-FD04-96EBCFBBB5B3}"/>
              </a:ext>
            </a:extLst>
          </p:cNvPr>
          <p:cNvGrpSpPr/>
          <p:nvPr/>
        </p:nvGrpSpPr>
        <p:grpSpPr>
          <a:xfrm>
            <a:off x="4429224" y="2362200"/>
            <a:ext cx="482600" cy="482600"/>
            <a:chOff x="3987800" y="2362200"/>
            <a:chExt cx="482600" cy="482600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1EA6776-42E6-DEDD-041A-30F1A034A71E}"/>
                </a:ext>
              </a:extLst>
            </p:cNvPr>
            <p:cNvSpPr/>
            <p:nvPr/>
          </p:nvSpPr>
          <p:spPr>
            <a:xfrm>
              <a:off x="39878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96D6D93-B81F-556A-FEF4-391497265D3E}"/>
                </a:ext>
              </a:extLst>
            </p:cNvPr>
            <p:cNvSpPr txBox="1"/>
            <p:nvPr/>
          </p:nvSpPr>
          <p:spPr>
            <a:xfrm>
              <a:off x="40767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3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50EEE1B-B6D6-89B2-96F7-CA2AA9C174A0}"/>
              </a:ext>
            </a:extLst>
          </p:cNvPr>
          <p:cNvSpPr txBox="1"/>
          <p:nvPr/>
        </p:nvSpPr>
        <p:spPr>
          <a:xfrm>
            <a:off x="4021846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메타데이터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권한 기준 정의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10582874-3AF8-D7F9-8758-901CC16D62A2}"/>
              </a:ext>
            </a:extLst>
          </p:cNvPr>
          <p:cNvGrpSpPr/>
          <p:nvPr/>
        </p:nvGrpSpPr>
        <p:grpSpPr>
          <a:xfrm>
            <a:off x="3930366" y="3179156"/>
            <a:ext cx="1498600" cy="1160385"/>
            <a:chOff x="3327400" y="3060699"/>
            <a:chExt cx="1498600" cy="1160385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AC03687B-D4BB-F620-767A-8F80FA600728}"/>
                </a:ext>
              </a:extLst>
            </p:cNvPr>
            <p:cNvSpPr/>
            <p:nvPr/>
          </p:nvSpPr>
          <p:spPr>
            <a:xfrm>
              <a:off x="3327400" y="3060699"/>
              <a:ext cx="1498600" cy="1160385"/>
            </a:xfrm>
            <a:prstGeom prst="roundRect">
              <a:avLst/>
            </a:prstGeom>
            <a:solidFill>
              <a:srgbClr val="F8F0F1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725610E-01A0-A288-60BF-246A2E16A0DE}"/>
                </a:ext>
              </a:extLst>
            </p:cNvPr>
            <p:cNvSpPr txBox="1"/>
            <p:nvPr/>
          </p:nvSpPr>
          <p:spPr>
            <a:xfrm>
              <a:off x="34163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 err="1">
                  <a:latin typeface="맑은 고딕" panose="020B0503020000020004" pitchFamily="50" charset="-127"/>
                </a:rPr>
                <a:t>document_id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en-US" altLang="ko-KR" sz="800" dirty="0" err="1">
                  <a:latin typeface="맑은 고딕" panose="020B0503020000020004" pitchFamily="50" charset="-127"/>
                </a:rPr>
                <a:t>file_hash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en-US" altLang="ko-KR" sz="800" dirty="0" err="1">
                  <a:latin typeface="맑은 고딕" panose="020B0503020000020004" pitchFamily="50" charset="-127"/>
                </a:rPr>
                <a:t>doc_type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권한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버전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2B1883F-E863-DAA9-FC5F-6C330670325C}"/>
                </a:ext>
              </a:extLst>
            </p:cNvPr>
            <p:cNvSpPr txBox="1"/>
            <p:nvPr/>
          </p:nvSpPr>
          <p:spPr>
            <a:xfrm>
              <a:off x="34163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메타데이터 정의서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BD0AC605-F50D-91E0-ECD1-7AFA455DDA26}"/>
              </a:ext>
            </a:extLst>
          </p:cNvPr>
          <p:cNvGrpSpPr/>
          <p:nvPr/>
        </p:nvGrpSpPr>
        <p:grpSpPr>
          <a:xfrm>
            <a:off x="6250136" y="2362200"/>
            <a:ext cx="482600" cy="482600"/>
            <a:chOff x="5588000" y="2362200"/>
            <a:chExt cx="482600" cy="482600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E5736EE-4733-AEDB-AE84-C41BEAA5083D}"/>
                </a:ext>
              </a:extLst>
            </p:cNvPr>
            <p:cNvSpPr/>
            <p:nvPr/>
          </p:nvSpPr>
          <p:spPr>
            <a:xfrm>
              <a:off x="55880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183BAE-A4A3-60A7-B7A1-5C9FA46F18C1}"/>
                </a:ext>
              </a:extLst>
            </p:cNvPr>
            <p:cNvSpPr txBox="1"/>
            <p:nvPr/>
          </p:nvSpPr>
          <p:spPr>
            <a:xfrm>
              <a:off x="56769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4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CA79D28-F00F-F09F-8536-D1F4198FF55B}"/>
              </a:ext>
            </a:extLst>
          </p:cNvPr>
          <p:cNvSpPr txBox="1"/>
          <p:nvPr/>
        </p:nvSpPr>
        <p:spPr>
          <a:xfrm>
            <a:off x="5854970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적재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/RAG 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파이프라인 설계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74C33A6-459E-A06D-B7BD-899E32A3414B}"/>
              </a:ext>
            </a:extLst>
          </p:cNvPr>
          <p:cNvGrpSpPr/>
          <p:nvPr/>
        </p:nvGrpSpPr>
        <p:grpSpPr>
          <a:xfrm>
            <a:off x="5759309" y="3179156"/>
            <a:ext cx="1498600" cy="1160385"/>
            <a:chOff x="4927600" y="3060699"/>
            <a:chExt cx="1498600" cy="1160385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501BEE5-0BE5-4916-CFE0-F437DA371628}"/>
                </a:ext>
              </a:extLst>
            </p:cNvPr>
            <p:cNvSpPr/>
            <p:nvPr/>
          </p:nvSpPr>
          <p:spPr>
            <a:xfrm>
              <a:off x="4927600" y="3060699"/>
              <a:ext cx="1498600" cy="1160385"/>
            </a:xfrm>
            <a:prstGeom prst="roundRect">
              <a:avLst/>
            </a:prstGeom>
            <a:solidFill>
              <a:srgbClr val="F2EEF7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821371D-9FFF-0AD3-9B0D-21BE0EC107A7}"/>
                </a:ext>
              </a:extLst>
            </p:cNvPr>
            <p:cNvSpPr txBox="1"/>
            <p:nvPr/>
          </p:nvSpPr>
          <p:spPr>
            <a:xfrm>
              <a:off x="50165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>
                  <a:latin typeface="맑은 고딕" panose="020B0503020000020004" pitchFamily="50" charset="-127"/>
                </a:rPr>
                <a:t>Object Storage, Metadata DB, Search Index, Vector DB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0A34E4B-9C15-5109-AD86-3EF132996868}"/>
                </a:ext>
              </a:extLst>
            </p:cNvPr>
            <p:cNvSpPr txBox="1"/>
            <p:nvPr/>
          </p:nvSpPr>
          <p:spPr>
            <a:xfrm>
              <a:off x="50165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적재 구조도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3DDB7A3-B2E2-FD71-BB50-652A9006BEFC}"/>
              </a:ext>
            </a:extLst>
          </p:cNvPr>
          <p:cNvGrpSpPr/>
          <p:nvPr/>
        </p:nvGrpSpPr>
        <p:grpSpPr>
          <a:xfrm>
            <a:off x="8071048" y="2362200"/>
            <a:ext cx="482600" cy="482600"/>
            <a:chOff x="8071048" y="2362200"/>
            <a:chExt cx="482600" cy="482600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2BB9F567-5313-F23A-0E16-90307DF2845D}"/>
                </a:ext>
              </a:extLst>
            </p:cNvPr>
            <p:cNvSpPr/>
            <p:nvPr/>
          </p:nvSpPr>
          <p:spPr>
            <a:xfrm>
              <a:off x="8071048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B12E76C-5240-4272-EDA1-F274045A9916}"/>
                </a:ext>
              </a:extLst>
            </p:cNvPr>
            <p:cNvSpPr txBox="1"/>
            <p:nvPr/>
          </p:nvSpPr>
          <p:spPr>
            <a:xfrm>
              <a:off x="8159948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5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524EDA6-239B-EAEB-A0CA-4767C51D3C47}"/>
              </a:ext>
            </a:extLst>
          </p:cNvPr>
          <p:cNvSpPr txBox="1"/>
          <p:nvPr/>
        </p:nvSpPr>
        <p:spPr>
          <a:xfrm>
            <a:off x="7688094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검증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190B4362-91D3-0DF6-8B03-3EAEC46DFCF2}"/>
              </a:ext>
            </a:extLst>
          </p:cNvPr>
          <p:cNvGrpSpPr/>
          <p:nvPr/>
        </p:nvGrpSpPr>
        <p:grpSpPr>
          <a:xfrm>
            <a:off x="7588250" y="3179156"/>
            <a:ext cx="1498600" cy="1160385"/>
            <a:chOff x="6527800" y="3060699"/>
            <a:chExt cx="1498600" cy="1160385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8ECFD1BF-26A2-5762-4A7B-794CC5ADE7A4}"/>
                </a:ext>
              </a:extLst>
            </p:cNvPr>
            <p:cNvSpPr/>
            <p:nvPr/>
          </p:nvSpPr>
          <p:spPr>
            <a:xfrm>
              <a:off x="6527800" y="3060699"/>
              <a:ext cx="1498600" cy="1160385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B3442ED-D42D-CBC1-00CE-D768DD33EE15}"/>
                </a:ext>
              </a:extLst>
            </p:cNvPr>
            <p:cNvSpPr txBox="1"/>
            <p:nvPr/>
          </p:nvSpPr>
          <p:spPr>
            <a:xfrm>
              <a:off x="66167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800"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리랭킹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출처 표시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권한 필터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3474898-BFDB-2C4A-500C-7EBE8128B168}"/>
                </a:ext>
              </a:extLst>
            </p:cNvPr>
            <p:cNvSpPr txBox="1"/>
            <p:nvPr/>
          </p:nvSpPr>
          <p:spPr>
            <a:xfrm>
              <a:off x="66167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검증 시나리오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65" name="모서리가 둥근 직사각형 35">
            <a:extLst>
              <a:ext uri="{FF2B5EF4-FFF2-40B4-BE49-F238E27FC236}">
                <a16:creationId xmlns:a16="http://schemas.microsoft.com/office/drawing/2014/main" id="{C6AB1599-1886-2EDC-FCC7-4F47D54D2D98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대상 문서</a:t>
            </a:r>
            <a:r>
              <a:rPr lang="en-US" altLang="ko-KR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업로드 방식</a:t>
            </a:r>
            <a:r>
              <a:rPr lang="en-US" altLang="ko-KR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권한 기준을 먼저 확정해야 적재</a:t>
            </a:r>
            <a:r>
              <a:rPr lang="en-US" altLang="ko-KR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/RAG·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서비스 검증이 같은 기준으로 연결됨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  <a:p>
            <a:pPr marL="893763" defTabSz="457200" latinLnBrk="0">
              <a:lnSpc>
                <a:spcPct val="130000"/>
              </a:lnSpc>
              <a:defRPr/>
            </a:pP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C95BCE13-0121-6C41-8DB4-A099C3EE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25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AD24E-F483-1E2D-948B-24349FDB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BD9013-F5A5-C081-0A41-DEA20E508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검증 체크리스트</a:t>
            </a:r>
            <a:endParaRPr lang="ko-KR" altLang="en-US" dirty="0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6FE8739-A6FB-1A61-ED7A-F03B300B417C}"/>
              </a:ext>
            </a:extLst>
          </p:cNvPr>
          <p:cNvGrpSpPr/>
          <p:nvPr/>
        </p:nvGrpSpPr>
        <p:grpSpPr>
          <a:xfrm>
            <a:off x="728813" y="1404764"/>
            <a:ext cx="8448375" cy="4048472"/>
            <a:chOff x="457200" y="1219200"/>
            <a:chExt cx="8153400" cy="38100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6F58756-3430-6370-04CC-0EA1F59B75BD}"/>
                </a:ext>
              </a:extLst>
            </p:cNvPr>
            <p:cNvSpPr/>
            <p:nvPr/>
          </p:nvSpPr>
          <p:spPr>
            <a:xfrm>
              <a:off x="457200" y="1219200"/>
              <a:ext cx="1778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90141E-ADCB-8040-0F5D-78976E0E79F5}"/>
                </a:ext>
              </a:extLst>
            </p:cNvPr>
            <p:cNvSpPr txBox="1"/>
            <p:nvPr/>
          </p:nvSpPr>
          <p:spPr>
            <a:xfrm>
              <a:off x="533400" y="1308100"/>
              <a:ext cx="1625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Autofit/>
            </a:bodyPr>
            <a:lstStyle/>
            <a:p>
              <a:pPr algn="ctr" latinLnBrk="0"/>
              <a:r>
                <a:rPr lang="ko-KR" altLang="en-US" sz="11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검증 영역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FA3798D-F734-CA8B-1DFB-E80459775BDA}"/>
                </a:ext>
              </a:extLst>
            </p:cNvPr>
            <p:cNvSpPr/>
            <p:nvPr/>
          </p:nvSpPr>
          <p:spPr>
            <a:xfrm>
              <a:off x="2413000" y="1219200"/>
              <a:ext cx="3048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813B4EC-A44B-F997-3F17-46B333CCDEF7}"/>
                </a:ext>
              </a:extLst>
            </p:cNvPr>
            <p:cNvSpPr txBox="1"/>
            <p:nvPr/>
          </p:nvSpPr>
          <p:spPr>
            <a:xfrm>
              <a:off x="2489200" y="1308100"/>
              <a:ext cx="2895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Autofit/>
            </a:bodyPr>
            <a:lstStyle/>
            <a:p>
              <a:pPr algn="ctr" latinLnBrk="0"/>
              <a:r>
                <a:rPr lang="ko-KR" altLang="en-US" sz="1100" b="1">
                  <a:solidFill>
                    <a:srgbClr val="FFFFFF"/>
                  </a:solidFill>
                  <a:latin typeface="맑은 고딕" panose="020B0503020000020004" pitchFamily="50" charset="-127"/>
                </a:rPr>
                <a:t>확인 내용</a:t>
              </a:r>
              <a:endParaRPr lang="ko-KR" altLang="en-US" sz="11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960147-EF6E-C856-56A0-D928078AA4B0}"/>
                </a:ext>
              </a:extLst>
            </p:cNvPr>
            <p:cNvSpPr/>
            <p:nvPr/>
          </p:nvSpPr>
          <p:spPr>
            <a:xfrm>
              <a:off x="5689600" y="1219200"/>
              <a:ext cx="2921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2DF159-6E6A-5D13-469A-DFFA5D6DAED3}"/>
                </a:ext>
              </a:extLst>
            </p:cNvPr>
            <p:cNvSpPr txBox="1"/>
            <p:nvPr/>
          </p:nvSpPr>
          <p:spPr>
            <a:xfrm>
              <a:off x="5765800" y="1308100"/>
              <a:ext cx="2768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11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판단 기준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3DDE759-D113-DB9F-5039-362B59272528}"/>
                </a:ext>
              </a:extLst>
            </p:cNvPr>
            <p:cNvSpPr/>
            <p:nvPr/>
          </p:nvSpPr>
          <p:spPr>
            <a:xfrm>
              <a:off x="457200" y="16764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356B11-E90D-A0BC-AF95-38417ECAB12E}"/>
                </a:ext>
              </a:extLst>
            </p:cNvPr>
            <p:cNvSpPr txBox="1"/>
            <p:nvPr/>
          </p:nvSpPr>
          <p:spPr>
            <a:xfrm>
              <a:off x="533400" y="17653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파일 유형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91911C0-AF85-D6C9-05FF-4D429CFFC88D}"/>
                </a:ext>
              </a:extLst>
            </p:cNvPr>
            <p:cNvSpPr/>
            <p:nvPr/>
          </p:nvSpPr>
          <p:spPr>
            <a:xfrm>
              <a:off x="2413000" y="16764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BBEE2C3-0A5C-4282-3E82-F30ED0168BBE}"/>
                </a:ext>
              </a:extLst>
            </p:cNvPr>
            <p:cNvSpPr txBox="1"/>
            <p:nvPr/>
          </p:nvSpPr>
          <p:spPr>
            <a:xfrm>
              <a:off x="2489200" y="17653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en-US" altLang="ko-KR" sz="1000">
                  <a:latin typeface="맑은 고딕" panose="020B0503020000020004" pitchFamily="50" charset="-127"/>
                </a:rPr>
                <a:t>PDF/HWPX/PPTX/XLSX/DOC/</a:t>
              </a:r>
              <a:r>
                <a:rPr lang="ko-KR" altLang="en-US" sz="1000">
                  <a:latin typeface="맑은 고딕" panose="020B0503020000020004" pitchFamily="50" charset="-127"/>
                </a:rPr>
                <a:t>이미지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영상 샘플 추출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33BF156-82B7-1C78-7543-1A3925BC6CB9}"/>
                </a:ext>
              </a:extLst>
            </p:cNvPr>
            <p:cNvSpPr/>
            <p:nvPr/>
          </p:nvSpPr>
          <p:spPr>
            <a:xfrm>
              <a:off x="5689600" y="16764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24E5E9-74F7-9E75-C953-600C119BC173}"/>
                </a:ext>
              </a:extLst>
            </p:cNvPr>
            <p:cNvSpPr txBox="1"/>
            <p:nvPr/>
          </p:nvSpPr>
          <p:spPr>
            <a:xfrm>
              <a:off x="5765800" y="17653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본문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이미지 텍스트 추출 가능 여부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3752423-B98B-9F31-1BA5-0BEA3B4D21B5}"/>
                </a:ext>
              </a:extLst>
            </p:cNvPr>
            <p:cNvSpPr/>
            <p:nvPr/>
          </p:nvSpPr>
          <p:spPr>
            <a:xfrm>
              <a:off x="457200" y="23622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4307C4-3D65-B26F-C803-63EA738A329F}"/>
                </a:ext>
              </a:extLst>
            </p:cNvPr>
            <p:cNvSpPr txBox="1"/>
            <p:nvPr/>
          </p:nvSpPr>
          <p:spPr>
            <a:xfrm>
              <a:off x="533400" y="24511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청킹 품질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A669D64-326D-A374-C580-3E8BF6352D38}"/>
                </a:ext>
              </a:extLst>
            </p:cNvPr>
            <p:cNvSpPr/>
            <p:nvPr/>
          </p:nvSpPr>
          <p:spPr>
            <a:xfrm>
              <a:off x="2413000" y="23622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91D076-BDCC-7799-0D4C-FA3485170A13}"/>
                </a:ext>
              </a:extLst>
            </p:cNvPr>
            <p:cNvSpPr txBox="1"/>
            <p:nvPr/>
          </p:nvSpPr>
          <p:spPr>
            <a:xfrm>
              <a:off x="2489200" y="24511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문단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페이지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표 단위 분할 결과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12B9A0B-4D28-661C-738F-4851CD1882EA}"/>
                </a:ext>
              </a:extLst>
            </p:cNvPr>
            <p:cNvSpPr/>
            <p:nvPr/>
          </p:nvSpPr>
          <p:spPr>
            <a:xfrm>
              <a:off x="5689600" y="23622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2CF769-E3B3-193B-2D26-F972FD4AD560}"/>
                </a:ext>
              </a:extLst>
            </p:cNvPr>
            <p:cNvSpPr txBox="1"/>
            <p:nvPr/>
          </p:nvSpPr>
          <p:spPr>
            <a:xfrm>
              <a:off x="5765800" y="24511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검색 결과가 문맥을 잃지 않는지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BA92FCB-CA21-DA28-487C-7E9FFCB31B8A}"/>
                </a:ext>
              </a:extLst>
            </p:cNvPr>
            <p:cNvSpPr/>
            <p:nvPr/>
          </p:nvSpPr>
          <p:spPr>
            <a:xfrm>
              <a:off x="457200" y="30480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A7D599B-1B7B-8C3A-4D0F-9BD92D6AB264}"/>
                </a:ext>
              </a:extLst>
            </p:cNvPr>
            <p:cNvSpPr txBox="1"/>
            <p:nvPr/>
          </p:nvSpPr>
          <p:spPr>
            <a:xfrm>
              <a:off x="533400" y="31369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메타데이터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94DCEC64-C5D8-0250-B244-1BA319E597ED}"/>
                </a:ext>
              </a:extLst>
            </p:cNvPr>
            <p:cNvSpPr/>
            <p:nvPr/>
          </p:nvSpPr>
          <p:spPr>
            <a:xfrm>
              <a:off x="2413000" y="30480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9884556-1F07-602D-89D6-C52A52A9F294}"/>
                </a:ext>
              </a:extLst>
            </p:cNvPr>
            <p:cNvSpPr txBox="1"/>
            <p:nvPr/>
          </p:nvSpPr>
          <p:spPr>
            <a:xfrm>
              <a:off x="2489200" y="31369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부서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유형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버전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해시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최신본 여부 입력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E03A7CC-0B80-49A9-CC91-4AEAF01E0E83}"/>
                </a:ext>
              </a:extLst>
            </p:cNvPr>
            <p:cNvSpPr/>
            <p:nvPr/>
          </p:nvSpPr>
          <p:spPr>
            <a:xfrm>
              <a:off x="5689600" y="30480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DA6E4AC-D78B-A3E4-5810-7E75FFECCF16}"/>
                </a:ext>
              </a:extLst>
            </p:cNvPr>
            <p:cNvSpPr txBox="1"/>
            <p:nvPr/>
          </p:nvSpPr>
          <p:spPr>
            <a:xfrm>
              <a:off x="5765800" y="31369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필터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중복 판단에 사용 가능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A07199B1-B0E8-6C4C-52AF-1DE93C5364E5}"/>
                </a:ext>
              </a:extLst>
            </p:cNvPr>
            <p:cNvSpPr/>
            <p:nvPr/>
          </p:nvSpPr>
          <p:spPr>
            <a:xfrm>
              <a:off x="457200" y="37338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9058E0E-B065-3955-0E7A-4E8C9592F620}"/>
                </a:ext>
              </a:extLst>
            </p:cNvPr>
            <p:cNvSpPr txBox="1"/>
            <p:nvPr/>
          </p:nvSpPr>
          <p:spPr>
            <a:xfrm>
              <a:off x="533400" y="38227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검색</a:t>
              </a:r>
              <a:r>
                <a:rPr lang="en-US" altLang="ko-KR" sz="1000">
                  <a:latin typeface="맑은 고딕" panose="020B0503020000020004" pitchFamily="50" charset="-127"/>
                </a:rPr>
                <a:t>/RAG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3FA4A52F-3167-D899-89AE-F1D515DFD444}"/>
                </a:ext>
              </a:extLst>
            </p:cNvPr>
            <p:cNvSpPr/>
            <p:nvPr/>
          </p:nvSpPr>
          <p:spPr>
            <a:xfrm>
              <a:off x="2413000" y="37338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274C421-E776-A7BA-3A86-27BDE7C5D9CD}"/>
                </a:ext>
              </a:extLst>
            </p:cNvPr>
            <p:cNvSpPr txBox="1"/>
            <p:nvPr/>
          </p:nvSpPr>
          <p:spPr>
            <a:xfrm>
              <a:off x="2489200" y="38227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키워드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벡터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하이브리드 검색 및 출처 표시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6B81251E-AB62-C0A0-CEB1-56D6C3335588}"/>
                </a:ext>
              </a:extLst>
            </p:cNvPr>
            <p:cNvSpPr/>
            <p:nvPr/>
          </p:nvSpPr>
          <p:spPr>
            <a:xfrm>
              <a:off x="5689600" y="37338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F504061-3BCA-DAD0-0745-B38D500100E9}"/>
                </a:ext>
              </a:extLst>
            </p:cNvPr>
            <p:cNvSpPr txBox="1"/>
            <p:nvPr/>
          </p:nvSpPr>
          <p:spPr>
            <a:xfrm>
              <a:off x="5765800" y="38227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정답 근거 문서와 문단이 노출되는지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F484DFF5-B742-3554-2279-08204676A4B0}"/>
                </a:ext>
              </a:extLst>
            </p:cNvPr>
            <p:cNvSpPr/>
            <p:nvPr/>
          </p:nvSpPr>
          <p:spPr>
            <a:xfrm>
              <a:off x="457200" y="44196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2FAFB04-7A89-85FC-4399-529C883BCBDA}"/>
                </a:ext>
              </a:extLst>
            </p:cNvPr>
            <p:cNvSpPr txBox="1"/>
            <p:nvPr/>
          </p:nvSpPr>
          <p:spPr>
            <a:xfrm>
              <a:off x="533400" y="45085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운영성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5F4C52E5-26AE-E771-4CC3-1CD9B582D037}"/>
                </a:ext>
              </a:extLst>
            </p:cNvPr>
            <p:cNvSpPr/>
            <p:nvPr/>
          </p:nvSpPr>
          <p:spPr>
            <a:xfrm>
              <a:off x="2413000" y="44196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B4CA8B8-D9FB-A5EA-A2FD-29AB4A4F9233}"/>
                </a:ext>
              </a:extLst>
            </p:cNvPr>
            <p:cNvSpPr txBox="1"/>
            <p:nvPr/>
          </p:nvSpPr>
          <p:spPr>
            <a:xfrm>
              <a:off x="2489200" y="45085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오류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재처리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처리시간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실패율 로그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5ADEB8F4-89AB-8B76-3094-0B34D0A5A5DB}"/>
                </a:ext>
              </a:extLst>
            </p:cNvPr>
            <p:cNvSpPr/>
            <p:nvPr/>
          </p:nvSpPr>
          <p:spPr>
            <a:xfrm>
              <a:off x="5689600" y="44196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9B00803-AD2E-5B41-0911-342CE64C0B7A}"/>
                </a:ext>
              </a:extLst>
            </p:cNvPr>
            <p:cNvSpPr txBox="1"/>
            <p:nvPr/>
          </p:nvSpPr>
          <p:spPr>
            <a:xfrm>
              <a:off x="5765800" y="45085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장애 추적과 월간 보고 지표화 가능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316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D245-A3A7-2E3B-59A7-7C800B07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A7A405E-E0C8-C0D6-16D5-99E6E4E4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서비스 활용 흐름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CABBA58-0318-8EA8-AA60-0E3ABA8BBBDE}"/>
              </a:ext>
            </a:extLst>
          </p:cNvPr>
          <p:cNvSpPr/>
          <p:nvPr/>
        </p:nvSpPr>
        <p:spPr>
          <a:xfrm>
            <a:off x="7728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C6861-01AD-D88A-A379-6BA0BBAD2E83}"/>
              </a:ext>
            </a:extLst>
          </p:cNvPr>
          <p:cNvSpPr txBox="1"/>
          <p:nvPr/>
        </p:nvSpPr>
        <p:spPr>
          <a:xfrm>
            <a:off x="8490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문서 수집</a:t>
            </a:r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업로드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268BAA-81AD-6CC4-E032-EBBAF5EE6A1D}"/>
              </a:ext>
            </a:extLst>
          </p:cNvPr>
          <p:cNvSpPr txBox="1"/>
          <p:nvPr/>
        </p:nvSpPr>
        <p:spPr>
          <a:xfrm>
            <a:off x="8490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SOP, </a:t>
            </a:r>
            <a:r>
              <a:rPr lang="ko-KR" altLang="en-US" sz="700">
                <a:latin typeface="맑은 고딕" panose="020B0503020000020004" pitchFamily="50" charset="-127"/>
              </a:rPr>
              <a:t>지침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보고서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법령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회의자료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781CB82-3EA4-A72E-49DF-8FB685B4BA8D}"/>
              </a:ext>
            </a:extLst>
          </p:cNvPr>
          <p:cNvCxnSpPr/>
          <p:nvPr/>
        </p:nvCxnSpPr>
        <p:spPr>
          <a:xfrm>
            <a:off x="19920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FF766E3-FF80-7910-BE16-7821455BE5D5}"/>
              </a:ext>
            </a:extLst>
          </p:cNvPr>
          <p:cNvSpPr/>
          <p:nvPr/>
        </p:nvSpPr>
        <p:spPr>
          <a:xfrm>
            <a:off x="21444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B1FE7-506E-EB9A-5915-4C39F2065496}"/>
              </a:ext>
            </a:extLst>
          </p:cNvPr>
          <p:cNvSpPr txBox="1"/>
          <p:nvPr/>
        </p:nvSpPr>
        <p:spPr>
          <a:xfrm>
            <a:off x="22206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원본 저장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041733-AF2D-0B17-1749-22C0890D94F8}"/>
              </a:ext>
            </a:extLst>
          </p:cNvPr>
          <p:cNvSpPr txBox="1"/>
          <p:nvPr/>
        </p:nvSpPr>
        <p:spPr>
          <a:xfrm>
            <a:off x="22206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Object Storage, </a:t>
            </a:r>
            <a:r>
              <a:rPr lang="ko-KR" altLang="en-US" sz="700">
                <a:latin typeface="맑은 고딕" panose="020B0503020000020004" pitchFamily="50" charset="-127"/>
              </a:rPr>
              <a:t>문서 </a:t>
            </a:r>
            <a:r>
              <a:rPr lang="en-US" altLang="ko-KR" sz="700">
                <a:latin typeface="맑은 고딕" panose="020B0503020000020004" pitchFamily="50" charset="-127"/>
              </a:rPr>
              <a:t>ID </a:t>
            </a:r>
            <a:r>
              <a:rPr lang="ko-KR" altLang="en-US" sz="700">
                <a:latin typeface="맑은 고딕" panose="020B0503020000020004" pitchFamily="50" charset="-127"/>
              </a:rPr>
              <a:t>부여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BF688A2-D1E1-8FE6-1FD5-D4414CBD5128}"/>
              </a:ext>
            </a:extLst>
          </p:cNvPr>
          <p:cNvCxnSpPr/>
          <p:nvPr/>
        </p:nvCxnSpPr>
        <p:spPr>
          <a:xfrm>
            <a:off x="33636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C8E8A85-FE0C-B6AD-73C8-76455666B8F2}"/>
              </a:ext>
            </a:extLst>
          </p:cNvPr>
          <p:cNvSpPr/>
          <p:nvPr/>
        </p:nvSpPr>
        <p:spPr>
          <a:xfrm>
            <a:off x="35160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57C383-4955-7F0F-032A-031F8EABFC3B}"/>
              </a:ext>
            </a:extLst>
          </p:cNvPr>
          <p:cNvSpPr txBox="1"/>
          <p:nvPr/>
        </p:nvSpPr>
        <p:spPr>
          <a:xfrm>
            <a:off x="35922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구조화</a:t>
            </a:r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전처리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AC8E99-2BB9-43DC-5B6E-C8ABBB2A288D}"/>
              </a:ext>
            </a:extLst>
          </p:cNvPr>
          <p:cNvSpPr txBox="1"/>
          <p:nvPr/>
        </p:nvSpPr>
        <p:spPr>
          <a:xfrm>
            <a:off x="35922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Loader, OCR, </a:t>
            </a:r>
            <a:r>
              <a:rPr lang="ko-KR" altLang="en-US" sz="700">
                <a:latin typeface="맑은 고딕" panose="020B0503020000020004" pitchFamily="50" charset="-127"/>
              </a:rPr>
              <a:t>메타데이터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청킹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8985CB4-5893-A1D4-2D10-D8A97ED80799}"/>
              </a:ext>
            </a:extLst>
          </p:cNvPr>
          <p:cNvCxnSpPr/>
          <p:nvPr/>
        </p:nvCxnSpPr>
        <p:spPr>
          <a:xfrm>
            <a:off x="47352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C5C90C4-81E1-700B-BE42-574D3A643DF0}"/>
              </a:ext>
            </a:extLst>
          </p:cNvPr>
          <p:cNvSpPr/>
          <p:nvPr/>
        </p:nvSpPr>
        <p:spPr>
          <a:xfrm>
            <a:off x="48876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28B68A-37B1-8BD1-026D-6FB83E93F0A8}"/>
              </a:ext>
            </a:extLst>
          </p:cNvPr>
          <p:cNvSpPr txBox="1"/>
          <p:nvPr/>
        </p:nvSpPr>
        <p:spPr>
          <a:xfrm>
            <a:off x="49638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/RAG </a:t>
            </a: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연계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92F747-77D8-311D-5A5B-A779A21335E7}"/>
              </a:ext>
            </a:extLst>
          </p:cNvPr>
          <p:cNvSpPr txBox="1"/>
          <p:nvPr/>
        </p:nvSpPr>
        <p:spPr>
          <a:xfrm>
            <a:off x="49638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Search Index, Vector DB, Retriever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65CFD57-2D85-AD17-700B-3D2C4AB0A85F}"/>
              </a:ext>
            </a:extLst>
          </p:cNvPr>
          <p:cNvCxnSpPr/>
          <p:nvPr/>
        </p:nvCxnSpPr>
        <p:spPr>
          <a:xfrm>
            <a:off x="61068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6E9E408-3398-CC97-35BC-B7CD997E78CC}"/>
              </a:ext>
            </a:extLst>
          </p:cNvPr>
          <p:cNvSpPr/>
          <p:nvPr/>
        </p:nvSpPr>
        <p:spPr>
          <a:xfrm>
            <a:off x="62592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D00F5F-80AB-206C-8153-061720FE9DA5}"/>
              </a:ext>
            </a:extLst>
          </p:cNvPr>
          <p:cNvSpPr txBox="1"/>
          <p:nvPr/>
        </p:nvSpPr>
        <p:spPr>
          <a:xfrm>
            <a:off x="63354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연동</a:t>
            </a:r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b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</a:b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제공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70E3E0-687F-97D7-282E-3C7DC0E6EC7E}"/>
              </a:ext>
            </a:extLst>
          </p:cNvPr>
          <p:cNvSpPr txBox="1"/>
          <p:nvPr/>
        </p:nvSpPr>
        <p:spPr>
          <a:xfrm>
            <a:off x="63354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700">
                <a:latin typeface="맑은 고딕" panose="020B0503020000020004" pitchFamily="50" charset="-127"/>
              </a:rPr>
              <a:t>검색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요약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보고서 초안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출처 제공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F5062CC-4592-EA09-2F9D-2112D4E85DFC}"/>
              </a:ext>
            </a:extLst>
          </p:cNvPr>
          <p:cNvCxnSpPr/>
          <p:nvPr/>
        </p:nvCxnSpPr>
        <p:spPr>
          <a:xfrm>
            <a:off x="74784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43848D8-E3AF-EB6B-0371-988F2E9472D8}"/>
              </a:ext>
            </a:extLst>
          </p:cNvPr>
          <p:cNvSpPr/>
          <p:nvPr/>
        </p:nvSpPr>
        <p:spPr>
          <a:xfrm>
            <a:off x="76308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4B427A-210D-1B53-4DDB-DD6A2850A41E}"/>
              </a:ext>
            </a:extLst>
          </p:cNvPr>
          <p:cNvSpPr txBox="1"/>
          <p:nvPr/>
        </p:nvSpPr>
        <p:spPr>
          <a:xfrm>
            <a:off x="77070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사용자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E50D4A-6C64-86CA-49EB-6E5861254426}"/>
              </a:ext>
            </a:extLst>
          </p:cNvPr>
          <p:cNvSpPr txBox="1"/>
          <p:nvPr/>
        </p:nvSpPr>
        <p:spPr>
          <a:xfrm>
            <a:off x="77070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700">
                <a:latin typeface="맑은 고딕" panose="020B0503020000020004" pitchFamily="50" charset="-127"/>
              </a:rPr>
              <a:t>업무 담당자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관리자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내부 서비스 이용자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C1EC6AD-15A7-AD24-71CA-C33AC1DEC847}"/>
              </a:ext>
            </a:extLst>
          </p:cNvPr>
          <p:cNvSpPr/>
          <p:nvPr/>
        </p:nvSpPr>
        <p:spPr>
          <a:xfrm>
            <a:off x="849064" y="3340720"/>
            <a:ext cx="1803400" cy="1168400"/>
          </a:xfrm>
          <a:prstGeom prst="rect">
            <a:avLst/>
          </a:prstGeom>
          <a:solidFill>
            <a:srgbClr val="EEF5FF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5114D2-06AF-4DF6-4285-04DACB403A93}"/>
              </a:ext>
            </a:extLst>
          </p:cNvPr>
          <p:cNvSpPr txBox="1"/>
          <p:nvPr/>
        </p:nvSpPr>
        <p:spPr>
          <a:xfrm>
            <a:off x="950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내부 문서 검색 서비스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255F82-372D-842A-BDAF-58613259B7F4}"/>
              </a:ext>
            </a:extLst>
          </p:cNvPr>
          <p:cNvSpPr txBox="1"/>
          <p:nvPr/>
        </p:nvSpPr>
        <p:spPr>
          <a:xfrm>
            <a:off x="950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800">
                <a:latin typeface="맑은 고딕" panose="020B0503020000020004" pitchFamily="50" charset="-127"/>
              </a:rPr>
              <a:t>SOP·</a:t>
            </a:r>
            <a:r>
              <a:rPr lang="ko-KR" altLang="en-US" sz="800">
                <a:latin typeface="맑은 고딕" panose="020B0503020000020004" pitchFamily="50" charset="-127"/>
              </a:rPr>
              <a:t>지침</a:t>
            </a:r>
            <a:r>
              <a:rPr lang="en-US" altLang="ko-KR" sz="800">
                <a:latin typeface="맑은 고딕" panose="020B0503020000020004" pitchFamily="50" charset="-127"/>
              </a:rPr>
              <a:t>·</a:t>
            </a:r>
            <a:r>
              <a:rPr lang="ko-KR" altLang="en-US" sz="800">
                <a:latin typeface="맑은 고딕" panose="020B0503020000020004" pitchFamily="50" charset="-127"/>
              </a:rPr>
              <a:t>매뉴얼을 자연어</a:t>
            </a:r>
            <a:r>
              <a:rPr lang="en-US" altLang="ko-KR" sz="800">
                <a:latin typeface="맑은 고딕" panose="020B0503020000020004" pitchFamily="50" charset="-127"/>
              </a:rPr>
              <a:t>/</a:t>
            </a:r>
            <a:r>
              <a:rPr lang="ko-KR" altLang="en-US" sz="800">
                <a:latin typeface="맑은 고딕" panose="020B0503020000020004" pitchFamily="50" charset="-127"/>
              </a:rPr>
              <a:t>키워드로 검색하고 원문 출처 제공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22DD6CA-399C-625F-9521-AEAFDAB6617A}"/>
              </a:ext>
            </a:extLst>
          </p:cNvPr>
          <p:cNvSpPr/>
          <p:nvPr/>
        </p:nvSpPr>
        <p:spPr>
          <a:xfrm>
            <a:off x="3008064" y="3340720"/>
            <a:ext cx="1803400" cy="1168400"/>
          </a:xfrm>
          <a:prstGeom prst="rect">
            <a:avLst/>
          </a:prstGeom>
          <a:solidFill>
            <a:srgbClr val="F6F6F6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DEF243-159C-F581-1A17-E605ABEDA0BD}"/>
              </a:ext>
            </a:extLst>
          </p:cNvPr>
          <p:cNvSpPr txBox="1"/>
          <p:nvPr/>
        </p:nvSpPr>
        <p:spPr>
          <a:xfrm>
            <a:off x="3109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보고서 초안 생성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C8B4EB-D183-9AEF-77AA-CF9A595CB11A}"/>
              </a:ext>
            </a:extLst>
          </p:cNvPr>
          <p:cNvSpPr txBox="1"/>
          <p:nvPr/>
        </p:nvSpPr>
        <p:spPr>
          <a:xfrm>
            <a:off x="3109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검색된 근거 문서를 기반으로 보고서</a:t>
            </a:r>
            <a:r>
              <a:rPr lang="en-US" altLang="ko-KR" sz="800">
                <a:latin typeface="맑은 고딕" panose="020B0503020000020004" pitchFamily="50" charset="-127"/>
              </a:rPr>
              <a:t>·</a:t>
            </a:r>
            <a:r>
              <a:rPr lang="ko-KR" altLang="en-US" sz="800">
                <a:latin typeface="맑은 고딕" panose="020B0503020000020004" pitchFamily="50" charset="-127"/>
              </a:rPr>
              <a:t>보도자료 초안 생성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B7BC534-8C29-3632-6308-38BC80584CC6}"/>
              </a:ext>
            </a:extLst>
          </p:cNvPr>
          <p:cNvSpPr/>
          <p:nvPr/>
        </p:nvSpPr>
        <p:spPr>
          <a:xfrm>
            <a:off x="5167064" y="3340720"/>
            <a:ext cx="1803400" cy="1168400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09C8D3-831E-9CB3-DFB0-864791427029}"/>
              </a:ext>
            </a:extLst>
          </p:cNvPr>
          <p:cNvSpPr txBox="1"/>
          <p:nvPr/>
        </p:nvSpPr>
        <p:spPr>
          <a:xfrm>
            <a:off x="5268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문서 자동 요약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D8B463-E158-4128-FB68-35A34AF9B74E}"/>
              </a:ext>
            </a:extLst>
          </p:cNvPr>
          <p:cNvSpPr txBox="1"/>
          <p:nvPr/>
        </p:nvSpPr>
        <p:spPr>
          <a:xfrm>
            <a:off x="5268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첨부 문서 또는 검색 결과의 핵심 내용 요약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F390B01-2FF3-91B9-5025-B5EA7A5375B1}"/>
              </a:ext>
            </a:extLst>
          </p:cNvPr>
          <p:cNvSpPr/>
          <p:nvPr/>
        </p:nvSpPr>
        <p:spPr>
          <a:xfrm>
            <a:off x="7326064" y="3340720"/>
            <a:ext cx="1803400" cy="1168400"/>
          </a:xfrm>
          <a:prstGeom prst="rect">
            <a:avLst/>
          </a:prstGeom>
          <a:solidFill>
            <a:srgbClr val="F2EEF7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264ADB-3D4C-D531-4214-A6E94C81AEF3}"/>
              </a:ext>
            </a:extLst>
          </p:cNvPr>
          <p:cNvSpPr txBox="1"/>
          <p:nvPr/>
        </p:nvSpPr>
        <p:spPr>
          <a:xfrm>
            <a:off x="7427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소방통합 검색 서비스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39D795-9150-7216-7285-F884024FEB25}"/>
              </a:ext>
            </a:extLst>
          </p:cNvPr>
          <p:cNvSpPr txBox="1"/>
          <p:nvPr/>
        </p:nvSpPr>
        <p:spPr>
          <a:xfrm>
            <a:off x="7427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내부 문서와 외부 법령</a:t>
            </a:r>
            <a:r>
              <a:rPr lang="en-US" altLang="ko-KR" sz="800">
                <a:latin typeface="맑은 고딕" panose="020B0503020000020004" pitchFamily="50" charset="-127"/>
              </a:rPr>
              <a:t>/API </a:t>
            </a:r>
            <a:r>
              <a:rPr lang="ko-KR" altLang="en-US" sz="800">
                <a:latin typeface="맑은 고딕" panose="020B0503020000020004" pitchFamily="50" charset="-127"/>
              </a:rPr>
              <a:t>정보를 통합 검색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9" name="모서리가 둥근 직사각형 35">
            <a:extLst>
              <a:ext uri="{FF2B5EF4-FFF2-40B4-BE49-F238E27FC236}">
                <a16:creationId xmlns:a16="http://schemas.microsoft.com/office/drawing/2014/main" id="{8FDCCAAE-77E8-B5F6-DEA3-BDBDEC5AC1B3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비정형문서 적재는 단순 저장이 아니라 내부문서 검색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요약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보고서 생성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통합검색 서비스로 이어지는 활용 기반임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A745DA1B-2BC0-6964-755C-76E7649A3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65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623B-31B3-1DCC-D3AA-802E2C4B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CBB827B-9217-043B-E8DB-6B00550F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업로드 운영 기준 </a:t>
            </a:r>
            <a:r>
              <a:rPr lang="ko-KR" altLang="en-US" dirty="0" err="1"/>
              <a:t>설계안</a:t>
            </a:r>
            <a:endParaRPr lang="ko-KR" altLang="en-US" dirty="0"/>
          </a:p>
        </p:txBody>
      </p:sp>
      <p:sp>
        <p:nvSpPr>
          <p:cNvPr id="59" name="모서리가 둥근 직사각형 35">
            <a:extLst>
              <a:ext uri="{FF2B5EF4-FFF2-40B4-BE49-F238E27FC236}">
                <a16:creationId xmlns:a16="http://schemas.microsoft.com/office/drawing/2014/main" id="{7F33A901-EA8A-6D36-40EF-CA4F69145004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</a:t>
            </a:r>
            <a:r>
              <a:rPr lang="ko-KR" altLang="en-US" sz="1200" kern="0" spc="-6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단순 문서 적재가 아니라 검색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요약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보고서 생성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통합검색 서비스로 이어지는 활용 흐름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89ABAFFD-AB7D-5A90-D0D5-9EF08F50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DAAD4B4-C548-DF90-05A3-24F7FE9EE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567779"/>
              </p:ext>
            </p:extLst>
          </p:nvPr>
        </p:nvGraphicFramePr>
        <p:xfrm>
          <a:off x="533400" y="1484784"/>
          <a:ext cx="8812088" cy="3023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126">
                  <a:extLst>
                    <a:ext uri="{9D8B030D-6E8A-4147-A177-3AD203B41FA5}">
                      <a16:colId xmlns:a16="http://schemas.microsoft.com/office/drawing/2014/main" val="1129409410"/>
                    </a:ext>
                  </a:extLst>
                </a:gridCol>
                <a:gridCol w="2046150">
                  <a:extLst>
                    <a:ext uri="{9D8B030D-6E8A-4147-A177-3AD203B41FA5}">
                      <a16:colId xmlns:a16="http://schemas.microsoft.com/office/drawing/2014/main" val="3828678033"/>
                    </a:ext>
                  </a:extLst>
                </a:gridCol>
                <a:gridCol w="2864611">
                  <a:extLst>
                    <a:ext uri="{9D8B030D-6E8A-4147-A177-3AD203B41FA5}">
                      <a16:colId xmlns:a16="http://schemas.microsoft.com/office/drawing/2014/main" val="3236634888"/>
                    </a:ext>
                  </a:extLst>
                </a:gridCol>
                <a:gridCol w="2728201">
                  <a:extLst>
                    <a:ext uri="{9D8B030D-6E8A-4147-A177-3AD203B41FA5}">
                      <a16:colId xmlns:a16="http://schemas.microsoft.com/office/drawing/2014/main" val="595903640"/>
                    </a:ext>
                  </a:extLst>
                </a:gridCol>
              </a:tblGrid>
              <a:tr h="3848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업로드 방식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운영 기준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관리 포인트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52572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일괄 업로드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기존 문서 묶음 적재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초기 구축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정기 이관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대량 재색인 시 사용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중복 제거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실패 재처리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적재 로그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44118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개별 업로드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사용자 직접 파일 등록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수시 문서 등록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부서별 업무 문서 등록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권한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분류 입력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파일 형식 검증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2530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시스템 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API, ETL, Crawler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업무시스템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문서함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외부 법령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자료 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연계 주기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변경분 감지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오류 알림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188112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운영 속성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주기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주체 관리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정기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수시 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개인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관리자 구분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 dirty="0" err="1">
                          <a:latin typeface="맑은 고딕" panose="020B0503020000020004" pitchFamily="50" charset="-127"/>
                        </a:rPr>
                        <a:t>최신본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버전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보안등급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감사 이력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9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723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00472" y="6453336"/>
            <a:ext cx="9505056" cy="404664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3487396"/>
      </p:ext>
    </p:extLst>
  </p:cSld>
  <p:clrMapOvr>
    <a:masterClrMapping/>
  </p:clrMapOvr>
</p:sld>
</file>

<file path=ppt/theme/theme1.xml><?xml version="1.0" encoding="utf-8"?>
<a:theme xmlns:a="http://schemas.openxmlformats.org/drawingml/2006/main" name="Ksight_2014">
  <a:themeElements>
    <a:clrScheme name="chandelier blues">
      <a:dk1>
        <a:sysClr val="windowText" lastClr="000000"/>
      </a:dk1>
      <a:lt1>
        <a:srgbClr val="FFFFFF"/>
      </a:lt1>
      <a:dk2>
        <a:srgbClr val="002776"/>
      </a:dk2>
      <a:lt2>
        <a:srgbClr val="EEECE1"/>
      </a:lt2>
      <a:accent1>
        <a:srgbClr val="D5E8EF"/>
      </a:accent1>
      <a:accent2>
        <a:srgbClr val="A2BDD3"/>
      </a:accent2>
      <a:accent3>
        <a:srgbClr val="5F85A5"/>
      </a:accent3>
      <a:accent4>
        <a:srgbClr val="325477"/>
      </a:accent4>
      <a:accent5>
        <a:srgbClr val="0F1924"/>
      </a:accent5>
      <a:accent6>
        <a:srgbClr val="FF9900"/>
      </a:accent6>
      <a:hlink>
        <a:srgbClr val="00A1DE"/>
      </a:hlink>
      <a:folHlink>
        <a:srgbClr val="72C7E7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ctr">
        <a:normAutofit/>
      </a:bodyPr>
      <a:lstStyle>
        <a:defPPr latinLnBrk="0">
          <a:defRPr sz="1200" b="1" dirty="0" smtClean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latinLnBrk="0">
          <a:defRPr sz="1200" b="1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item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Props1.xml><?xml version="1.0" encoding="utf-8"?>
<ds:datastoreItem xmlns:ds="http://schemas.openxmlformats.org/officeDocument/2006/customXml" ds:itemID="{A976AC0F-6889-454C-BAB8-92B9F471DFFC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A5794AB3-E567-4DC4-9B8D-62CCC93B4991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0B5D076F-8AF3-45DB-8832-632BC1E23DC3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50D58936-51CF-4142-9BE2-230139109E06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C57F6D90-A5C0-496C-944A-60169C07F2FA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2CC47469-A814-4FB9-9738-C6C3F673062D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89DB18A4-3E3E-4082-886C-FF19379532F2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1E60F14D-CD42-4582-9124-66C0CE9221B1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55E18FB9-1CF9-456F-89F0-51D9B3F82975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8A3A4C72-C4C2-4097-8116-971ABEA6836F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9DE85BCA-B7C2-41DC-B696-528FCB45B0A8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65C12E88-989B-436C-A26C-AC2C98E60973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07DDEDC4-8190-4207-B64A-61361462FEAE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36FAF374-7A4B-4315-9B21-9C7F159E9DDF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99933491-E2F8-442D-805F-DB12F5F11BE6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AD1648E6-1F79-4029-95FE-726906BED995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7DDD1D9F-F2E1-4D3E-B887-833144004BC6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8CFDF327-571C-4408-939A-FF2684AC2F31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D8FF0263-8044-46CE-97BB-9E5B51C2DD6A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D12084D9-407E-48FE-864C-CA4331268CDB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AC202D5A-C1B4-4300-848C-3E603DF4F062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2FC7E4AF-4AD8-4345-B3C8-4E5A5A54E75A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E3CE086C-AFCD-4DDB-BEE6-609EFF0FF080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A24BE12D-F166-4EAC-9A7D-C1D92A0EAFB2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AB8DB4BB-1C26-426E-A5CB-760DFF4C0B0B}">
  <ds:schemaRefs>
    <ds:schemaRef ds:uri="http://schemas.microsoft.com/VisualStudio/2011/storyboarding/control"/>
  </ds:schemaRefs>
</ds:datastoreItem>
</file>

<file path=customXml/itemProps26.xml><?xml version="1.0" encoding="utf-8"?>
<ds:datastoreItem xmlns:ds="http://schemas.openxmlformats.org/officeDocument/2006/customXml" ds:itemID="{B6EDAAFD-E29B-443A-8A54-E89B482408A3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9A889443-4064-4583-92C2-3037C6C7925A}">
  <ds:schemaRefs>
    <ds:schemaRef ds:uri="http://schemas.microsoft.com/VisualStudio/2011/storyboarding/control"/>
  </ds:schemaRefs>
</ds:datastoreItem>
</file>

<file path=customXml/itemProps28.xml><?xml version="1.0" encoding="utf-8"?>
<ds:datastoreItem xmlns:ds="http://schemas.openxmlformats.org/officeDocument/2006/customXml" ds:itemID="{9CE4240D-E7A2-4C01-A67A-19A76075E0FD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E85BAA46-2DE0-4262-A7BF-16A9D26EADE9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FCAC46C1-A0AB-4C0F-B72B-6EA80292EE3E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AB6E6F07-521A-48D6-A22D-53F3B73E9356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6A7EF8CA-DA8C-402F-9663-4F557C491A96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A006C1CA-B360-4046-A43A-2C6699B4E9AB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BDFC1598-EA6D-4031-A086-DA0764CC2901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8806229E-E29D-43F0-8E5F-A516E2C33C6B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20C14491-2922-4A42-983E-9B7B02DDE6B5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5EDBD69B-CE85-4247-96BD-DA5B063F4586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35E852AF-D7D8-4310-9E7C-D4B10E7496E8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48AC354C-4889-41D7-BF8C-C4C03A76E019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67CF50BA-011F-482E-9DD1-BBFB06F5E0CB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18C72E4A-FBD5-4336-9F3D-B2810541A89C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9980B3D1-52B1-4B49-9619-8C80191E7BB4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331E33DD-CCD8-4426-8FF4-18065BF33A62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39905</TotalTime>
  <Words>1590</Words>
  <Application>Microsoft Office PowerPoint</Application>
  <PresentationFormat>A4 용지(210x297mm)</PresentationFormat>
  <Paragraphs>256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나눔고딕</vt:lpstr>
      <vt:lpstr>나눔고딕 ExtraBold</vt:lpstr>
      <vt:lpstr>맑은 고딕</vt:lpstr>
      <vt:lpstr>여기어때 잘난체 고딕</vt:lpstr>
      <vt:lpstr>Arial</vt:lpstr>
      <vt:lpstr>Times New Roman</vt:lpstr>
      <vt:lpstr>Ksight_2014</vt:lpstr>
      <vt:lpstr>PowerPoint 프레젠테이션</vt:lpstr>
      <vt:lpstr>PowerPoint 프레젠테이션</vt:lpstr>
      <vt:lpstr>요구사항 수립</vt:lpstr>
      <vt:lpstr>ISP 목표모델 내 비정형문서 위치</vt:lpstr>
      <vt:lpstr>데이터 유형과 비정형 적재 필요성</vt:lpstr>
      <vt:lpstr>요구사항정의서 기반 핵심 요구사항</vt:lpstr>
      <vt:lpstr>요구사항 기반 적재 데이터 구성</vt:lpstr>
      <vt:lpstr>문서 처리 흐름</vt:lpstr>
      <vt:lpstr>저장소별 적재 매핑</vt:lpstr>
      <vt:lpstr>메타데이터 기준안</vt:lpstr>
      <vt:lpstr>수행 태스크</vt:lpstr>
      <vt:lpstr>검증 체크리스트</vt:lpstr>
      <vt:lpstr>서비스 활용 흐름</vt:lpstr>
      <vt:lpstr>문서 업로드 운영 기준 설계안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echoit 0010</cp:lastModifiedBy>
  <cp:revision>2549</cp:revision>
  <cp:lastPrinted>2022-09-20T08:33:22Z</cp:lastPrinted>
  <dcterms:created xsi:type="dcterms:W3CDTF">2013-05-16T02:06:17Z</dcterms:created>
  <dcterms:modified xsi:type="dcterms:W3CDTF">2026-05-19T04:15:25Z</dcterms:modified>
</cp:coreProperties>
</file>