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22222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94944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</a:rPr>
              <a:t>문서 처리 흐름 보완안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36576"/>
          </a:xfrm>
          <a:prstGeom prst="rect">
            <a:avLst/>
          </a:prstGeom>
          <a:solidFill>
            <a:srgbClr val="3C3C3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46520"/>
            <a:ext cx="164592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맑은 고딕"/>
              </a:rPr>
              <a:t>전남소방본부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- 보완 1 -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19088"/>
            <a:ext cx="1920240" cy="2377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1400" b="0">
                <a:solidFill>
                  <a:srgbClr val="EF7D32"/>
                </a:solidFill>
                <a:latin typeface="맑은 고딕"/>
              </a:rPr>
              <a:t>에코아이티 컨소시엄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96012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SFR-005의 구조화/전처리 요구를 RAG 활용 데이터 흐름으로 재구성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원본 저장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Object Storage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document_id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12264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Parse/OCR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본문·표·이미지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텍스트 추출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28416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Chunking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문단·페이지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검색 단위 분할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72584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600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Embedding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chunk_id 기준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벡터화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6752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44768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Search/Vector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색인·벡터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동시 적재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8936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Retriever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근거 문단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검색·재순위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5088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33104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Solar LLM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답변·요약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초안 생성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49256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77272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Groundedness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근거 일치성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29000"/>
            <a:ext cx="315468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보고 메시지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문서 적재는 파일 저장이 아님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검색/RAG용 지식 데이터 전환 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429000"/>
            <a:ext cx="315468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품질 확인 지점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OCR·파싱 성공률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청킹 단위 적정성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답변 근거 일치성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3429000"/>
            <a:ext cx="315468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관리 단위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document_id와 chunk_id 기준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원본·색인·벡터·출처 연결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724144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52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824728"/>
            <a:ext cx="402336" cy="402336"/>
          </a:xfrm>
          <a:prstGeom prst="ellipse">
            <a:avLst/>
          </a:prstGeom>
          <a:noFill/>
          <a:ln w="635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5" y="5934456"/>
            <a:ext cx="182880" cy="182880"/>
          </a:xfrm>
          <a:prstGeom prst="ellipse">
            <a:avLst/>
          </a:prstGeom>
          <a:noFill/>
          <a:ln w="381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1328" y="5870448"/>
            <a:ext cx="9601200" cy="3108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✓ SFR-005 비정형 문서 구조화/전처리, SFR-017 RAG, SFR-018 AI 지능형 검색 요구를 하나의 적재 흐름으로 연결.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22222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94944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</a:rPr>
              <a:t>문서 업로드 운영 시나리오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36576"/>
          </a:xfrm>
          <a:prstGeom prst="rect">
            <a:avLst/>
          </a:prstGeom>
          <a:solidFill>
            <a:srgbClr val="3C3C3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46520"/>
            <a:ext cx="164592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맑은 고딕"/>
              </a:rPr>
              <a:t>전남소방본부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- 보완 2 -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19088"/>
            <a:ext cx="1920240" cy="2377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1400" b="0">
                <a:solidFill>
                  <a:srgbClr val="EF7D32"/>
                </a:solidFill>
                <a:latin typeface="맑은 고딕"/>
              </a:rPr>
              <a:t>에코아이티 컨소시엄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96012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수행 태스크를 운영 주체와 업로드 방식 기준으로 구체화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74519"/>
            <a:ext cx="3154680" cy="2743200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관리자 일괄 적재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기존 SOP·지침·보고서 묶음 등록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문서유형·부서·권한 기본값 지정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처리 결과와 실패 목록 확인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실패 건 재처리 및 이력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154680" cy="2743200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사용자 개별 업로드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업무 담당자가 수시 문서 등록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업무구분·문서유형·권한 입력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처리 상태와 검색 반영 여부 확인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권한 범위 내 원문 열람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874519"/>
            <a:ext cx="3154680" cy="2743200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700" b="1">
                <a:solidFill>
                  <a:srgbClr val="1F4E79"/>
                </a:solidFill>
                <a:latin typeface="맑은 고딕"/>
              </a:rPr>
              <a:t>시스템 연계 업로드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API·ETL·Crawler로 정기 수집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변경분·최신본·중복 여부 판단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오류 알림과 재처리 로그 관리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맑은 고딕"/>
              </a:rPr>
              <a:t>· 연계 주기와 감사 이력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724144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52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5824728"/>
            <a:ext cx="402336" cy="402336"/>
          </a:xfrm>
          <a:prstGeom prst="ellipse">
            <a:avLst/>
          </a:prstGeom>
          <a:noFill/>
          <a:ln w="635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" y="5934456"/>
            <a:ext cx="182880" cy="182880"/>
          </a:xfrm>
          <a:prstGeom prst="ellipse">
            <a:avLst/>
          </a:prstGeom>
          <a:noFill/>
          <a:ln w="381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5870448"/>
            <a:ext cx="9601200" cy="3108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✓ SFR-004 문서정보 수집, SFR-005 문서 구조화·전처리 자동화를 운영 시나리오로 구체화.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22222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94944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</a:rPr>
              <a:t>검색/RAG 검증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36576"/>
          </a:xfrm>
          <a:prstGeom prst="rect">
            <a:avLst/>
          </a:prstGeom>
          <a:solidFill>
            <a:srgbClr val="3C3C3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46520"/>
            <a:ext cx="164592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맑은 고딕"/>
              </a:rPr>
              <a:t>전남소방본부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- 보완 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19088"/>
            <a:ext cx="1920240" cy="2377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1400" b="0">
                <a:solidFill>
                  <a:srgbClr val="EF7D32"/>
                </a:solidFill>
                <a:latin typeface="맑은 고딕"/>
              </a:rPr>
              <a:t>에코아이티 컨소시엄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96012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검색 방식별 검증 기준과 RAG 답변 품질 기준을 분리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8096" y="1664208"/>
          <a:ext cx="10698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확인 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색인검색</a:t>
                      </a:r>
                    </a:p>
                  </a:txBody>
                  <a:tcPr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문서명·제목·메타데이터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정확 문서가 상위 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Search Index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키워드검색</a:t>
                      </a:r>
                    </a:p>
                  </a:txBody>
                  <a:tcPr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본문 키워드·동의어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누락/오탐 최소화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Full-text Search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벡터검색</a:t>
                      </a:r>
                    </a:p>
                  </a:txBody>
                  <a:tcPr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의미 유사 문단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관련 문단 재현성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Embedding / Vector DB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RAG 답변</a:t>
                      </a:r>
                    </a:p>
                  </a:txBody>
                  <a:tcPr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답변·출처·원문 문단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Groundedness 통과 및 권한 필터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Retriever / Solar LLM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1248" y="4590288"/>
            <a:ext cx="3154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권한 필터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권한 없는 문서는 검색·답변 근거에서 제외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590288"/>
            <a:ext cx="3154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개인정보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마스킹 필요 항목은 답변·원문 노출 전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4590288"/>
            <a:ext cx="31546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출처 표시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문서명, 페이지, 문단, 최신본 여부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5724144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52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5824728"/>
            <a:ext cx="402336" cy="402336"/>
          </a:xfrm>
          <a:prstGeom prst="ellipse">
            <a:avLst/>
          </a:prstGeom>
          <a:noFill/>
          <a:ln w="635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" y="5934456"/>
            <a:ext cx="182880" cy="182880"/>
          </a:xfrm>
          <a:prstGeom prst="ellipse">
            <a:avLst/>
          </a:prstGeom>
          <a:noFill/>
          <a:ln w="381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5870448"/>
            <a:ext cx="9601200" cy="3108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✓ SFR-017 RAG, SFR-018 AI 지능형 검색, 공공문서 권한·출처 관리 기준을 검증 항목으로 반영.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22222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94944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</a:rPr>
              <a:t>문서 업로드 운영 절차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36576"/>
          </a:xfrm>
          <a:prstGeom prst="rect">
            <a:avLst/>
          </a:prstGeom>
          <a:solidFill>
            <a:srgbClr val="3C3C3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46520"/>
            <a:ext cx="164592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맑은 고딕"/>
              </a:rPr>
              <a:t>전남소방본부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- 보완 4 -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19088"/>
            <a:ext cx="1920240" cy="2377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1400" b="0">
                <a:solidFill>
                  <a:srgbClr val="EF7D32"/>
                </a:solidFill>
                <a:latin typeface="맑은 고딕"/>
              </a:rPr>
              <a:t>에코아이티 컨소시엄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96012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업로드 방식은 달라도 완료 기준은 동일하게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업로드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일괄·개별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시스템 연계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12264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형식 검증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HWP/PDF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Office/이미지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28416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메타데이터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분류·부서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버전·최신본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72584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600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권한 확인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보안등급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접근 범위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6752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44768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파싱/청킹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본문 추출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chunk_id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8936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임베딩/색인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Vector DB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Search Index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5088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33104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검증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검색/RAG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권한 필터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49256" y="2295144"/>
            <a:ext cx="128016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77272" y="1828800"/>
            <a:ext cx="1216152" cy="93268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01600" bIns="63500"/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완료/재처리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오류 원인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맑은 고딕"/>
              </a:rPr>
              <a:t>재처리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383280"/>
            <a:ext cx="2487168" cy="157276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일괄 업로드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초기 구축·정기 이관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대량 문서 재색인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실패 건 재처리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1296" y="3383280"/>
            <a:ext cx="2487168" cy="1572768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개별 업로드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부서별 업무 문서 등록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문서유형·권한 입력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처리 상태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383280"/>
            <a:ext cx="2487168" cy="1572768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시스템 연계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API·ETL·Crawler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변경분 감지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연계 오류 알림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51392" y="3383280"/>
            <a:ext cx="2487168" cy="1572768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400" b="1">
                <a:solidFill>
                  <a:srgbClr val="1F4E79"/>
                </a:solidFill>
                <a:latin typeface="맑은 고딕"/>
              </a:rPr>
              <a:t>운영 결과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검색 반영 여부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오류 원인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감사 이력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24144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52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824728"/>
            <a:ext cx="402336" cy="402336"/>
          </a:xfrm>
          <a:prstGeom prst="ellipse">
            <a:avLst/>
          </a:prstGeom>
          <a:noFill/>
          <a:ln w="635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2415" y="5934456"/>
            <a:ext cx="182880" cy="182880"/>
          </a:xfrm>
          <a:prstGeom prst="ellipse">
            <a:avLst/>
          </a:prstGeom>
          <a:noFill/>
          <a:ln w="381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5870448"/>
            <a:ext cx="9601200" cy="3108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✓ SFR-004 문서정보 수집, SFR-005 구조화/전처리, 운영 이력·오류 재처리 관리 기준을 연결.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22222"/>
                </a:solidFill>
                <a:latin typeface="맑은 고딕"/>
              </a:rPr>
              <a:t>현황분석보고서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94944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</a:rPr>
              <a:t>비정형 데이터 적재 완료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36576"/>
          </a:xfrm>
          <a:prstGeom prst="rect">
            <a:avLst/>
          </a:prstGeom>
          <a:solidFill>
            <a:srgbClr val="3C3C3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46520"/>
            <a:ext cx="164592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맑은 고딕"/>
              </a:rPr>
              <a:t>전남소방본부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20116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- 보완 5 -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419088"/>
            <a:ext cx="1920240" cy="2377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1400" b="0">
                <a:solidFill>
                  <a:srgbClr val="EF7D32"/>
                </a:solidFill>
                <a:latin typeface="맑은 고딕"/>
              </a:rPr>
              <a:t>에코아이티 컨소시엄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96012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완료 판단을 원본 저장 이후 검색/RAG 검증까지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28800"/>
            <a:ext cx="3154680" cy="1078992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원본 저장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원본 파일 보관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document_id 부여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54680" cy="1078992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메타데이터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문서유형·부서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권한·버전·최신본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828800"/>
            <a:ext cx="3154680" cy="1078992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파싱/청킹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본문·표·이미지 텍스트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chunk_id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83280"/>
            <a:ext cx="3154680" cy="1078992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임베딩/색인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Vector DB 적재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검색 색인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383280"/>
            <a:ext cx="3154680" cy="1078992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검색/RAG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검색 결과 재현성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답변 출처·Groundedness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383280"/>
            <a:ext cx="3154680" cy="1078992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01600"/>
          <a:lstStyle/>
          <a:p>
            <a:pPr algn="ctr"/>
            <a:r>
              <a:rPr sz="1500" b="1">
                <a:solidFill>
                  <a:srgbClr val="1F4E79"/>
                </a:solidFill>
                <a:latin typeface="맑은 고딕"/>
              </a:rPr>
              <a:t>권한/운영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권한 필터·개인정보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맑은 고딕"/>
              </a:rPr>
              <a:t>· 오류·재처리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724144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3352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5824728"/>
            <a:ext cx="402336" cy="402336"/>
          </a:xfrm>
          <a:prstGeom prst="ellipse">
            <a:avLst/>
          </a:prstGeom>
          <a:noFill/>
          <a:ln w="635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" y="5934456"/>
            <a:ext cx="182880" cy="182880"/>
          </a:xfrm>
          <a:prstGeom prst="ellipse">
            <a:avLst/>
          </a:prstGeom>
          <a:noFill/>
          <a:ln w="38100">
            <a:solidFill>
              <a:srgbClr val="D3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5870448"/>
            <a:ext cx="9601200" cy="3108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✓ 완료 판정: 원본, 메타데이터, 파싱/청킹, 임베딩/색인, 검색/RAG, 권한·출처 검증이 모두 확인된 상태.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